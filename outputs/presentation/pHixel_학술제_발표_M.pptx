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comments/modernComment_102_0.xml" ContentType="application/vnd.ms-powerpoint.comments+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comments/modernComment_104_0.xml" ContentType="application/vnd.ms-powerpoint.comments+xml"/>
  <Override PartName="/ppt/notesSlides/notesSlide6.xml" ContentType="application/vnd.openxmlformats-officedocument.presentationml.notesSlide+xml"/>
  <Override PartName="/ppt/comments/modernComment_105_0.xml" ContentType="application/vnd.ms-powerpoint.comments+xml"/>
  <Override PartName="/ppt/charts/chart1.xml" ContentType="application/vnd.openxmlformats-officedocument.drawingml.chart+xml"/>
  <Override PartName="/ppt/notesSlides/notesSlide7.xml" ContentType="application/vnd.openxmlformats-officedocument.presentationml.notesSlide+xml"/>
  <Override PartName="/ppt/comments/modernComment_106_0.xml" ContentType="application/vnd.ms-powerpoint.comments+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omments/modernComment_108_0.xml" ContentType="application/vnd.ms-powerpoint.comments+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487976-0A95-4726-3814-46B3E4E08479}" name="소연 김" initials="소김" userId="4b76d5985042eb5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5998" autoAdjust="0"/>
  </p:normalViewPr>
  <p:slideViewPr>
    <p:cSldViewPr snapToGrid="0" snapToObjects="1">
      <p:cViewPr>
        <p:scale>
          <a:sx n="93" d="100"/>
          <a:sy n="93" d="100"/>
        </p:scale>
        <p:origin x="72" y="6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barChart>
        <c:barDir val="bar"/>
        <c:grouping val="percentStacked"/>
        <c:varyColors val="1"/>
        <c:ser>
          <c:idx val="0"/>
          <c:order val="0"/>
          <c:tx>
            <c:strRef>
              <c:f>Sheet1!$B$1</c:f>
              <c:strCache>
                <c:ptCount val="1"/>
                <c:pt idx="0">
                  <c:v>pH</c:v>
                </c:pt>
              </c:strCache>
            </c:strRef>
          </c:tx>
          <c:spPr>
            <a:solidFill>
              <a:srgbClr val="141414"/>
            </a:solidFill>
            <a:ln w="19050">
              <a:solidFill>
                <a:srgbClr val="FFFFFF"/>
              </a:solidFill>
            </a:ln>
          </c:spPr>
          <c:invertIfNegative val="1"/>
          <c:dLbls>
            <c:dLbl>
              <c:idx val="0"/>
              <c:delete val="1"/>
              <c:extLst>
                <c:ext xmlns:c15="http://schemas.microsoft.com/office/drawing/2012/chart" uri="{CE6537A1-D6FC-4f65-9D91-7224C49458BB}"/>
                <c:ext xmlns:c16="http://schemas.microsoft.com/office/drawing/2014/chart" uri="{C3380CC4-5D6E-409C-BE32-E72D297353CC}">
                  <c16:uniqueId val="{00000000-D7A3-4961-8034-8230A46FA4E5}"/>
                </c:ext>
              </c:extLst>
            </c:dLbl>
            <c:numFmt formatCode="0&quot;%&quot;" sourceLinked="0"/>
            <c:spPr>
              <a:noFill/>
              <a:ln>
                <a:noFill/>
              </a:ln>
            </c:spPr>
            <c:txPr>
              <a:bodyPr/>
              <a:lstStyle/>
              <a:p>
                <a:pPr>
                  <a:defRPr sz="1400" b="0">
                    <a:solidFill>
                      <a:srgbClr val="FFFFFF"/>
                    </a:solidFill>
                    <a:latin typeface="Hanken Grotesk"/>
                    <a:ea typeface="SUIT"/>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흰 배경</c:v>
                </c:pt>
                <c:pt idx="1">
                  <c:v>반응부(Pad)</c:v>
                </c:pt>
                <c:pt idx="2">
                  <c:v>Contrast</c:v>
                </c:pt>
              </c:strCache>
            </c:strRef>
          </c:cat>
          <c:val>
            <c:numRef>
              <c:f>Sheet1!$B$2:$B$4</c:f>
              <c:numCache>
                <c:formatCode>General</c:formatCode>
                <c:ptCount val="3"/>
                <c:pt idx="0">
                  <c:v>1</c:v>
                </c:pt>
                <c:pt idx="1">
                  <c:v>78.400000000000006</c:v>
                </c:pt>
                <c:pt idx="2">
                  <c:v>86.7</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1-D7A3-4961-8034-8230A46FA4E5}"/>
            </c:ext>
          </c:extLst>
        </c:ser>
        <c:ser>
          <c:idx val="1"/>
          <c:order val="1"/>
          <c:tx>
            <c:strRef>
              <c:f>Sheet1!$C$1</c:f>
              <c:strCache>
                <c:ptCount val="1"/>
                <c:pt idx="0">
                  <c:v>기종</c:v>
                </c:pt>
              </c:strCache>
            </c:strRef>
          </c:tx>
          <c:spPr>
            <a:solidFill>
              <a:srgbClr val="707070"/>
            </a:solidFill>
            <a:ln w="19050">
              <a:solidFill>
                <a:srgbClr val="FFFFFF"/>
              </a:solidFill>
            </a:ln>
          </c:spPr>
          <c:invertIfNegative val="1"/>
          <c:dLbls>
            <c:numFmt formatCode="0&quot;%&quot;" sourceLinked="0"/>
            <c:spPr>
              <a:noFill/>
              <a:ln>
                <a:noFill/>
              </a:ln>
            </c:spPr>
            <c:txPr>
              <a:bodyPr/>
              <a:lstStyle/>
              <a:p>
                <a:pPr>
                  <a:defRPr sz="1400" b="0">
                    <a:solidFill>
                      <a:srgbClr val="FFFFFF"/>
                    </a:solidFill>
                    <a:latin typeface="Hanken Grotesk"/>
                    <a:ea typeface="SUIT"/>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흰 배경</c:v>
                </c:pt>
                <c:pt idx="1">
                  <c:v>반응부(Pad)</c:v>
                </c:pt>
                <c:pt idx="2">
                  <c:v>Contrast</c:v>
                </c:pt>
              </c:strCache>
            </c:strRef>
          </c:cat>
          <c:val>
            <c:numRef>
              <c:f>Sheet1!$C$2:$C$4</c:f>
              <c:numCache>
                <c:formatCode>General</c:formatCode>
                <c:ptCount val="3"/>
                <c:pt idx="0">
                  <c:v>60.9</c:v>
                </c:pt>
                <c:pt idx="1">
                  <c:v>18</c:v>
                </c:pt>
                <c:pt idx="2">
                  <c:v>9.1</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2-D7A3-4961-8034-8230A46FA4E5}"/>
            </c:ext>
          </c:extLst>
        </c:ser>
        <c:ser>
          <c:idx val="2"/>
          <c:order val="2"/>
          <c:tx>
            <c:strRef>
              <c:f>Sheet1!$D$1</c:f>
              <c:strCache>
                <c:ptCount val="1"/>
                <c:pt idx="0">
                  <c:v>조명</c:v>
                </c:pt>
              </c:strCache>
            </c:strRef>
          </c:tx>
          <c:spPr>
            <a:solidFill>
              <a:srgbClr val="ADADAD"/>
            </a:solidFill>
            <a:ln w="19050">
              <a:solidFill>
                <a:srgbClr val="FFFFFF"/>
              </a:solidFill>
            </a:ln>
          </c:spPr>
          <c:invertIfNegative val="1"/>
          <c:cat>
            <c:strRef>
              <c:f>Sheet1!$A$2:$A$4</c:f>
              <c:strCache>
                <c:ptCount val="3"/>
                <c:pt idx="0">
                  <c:v>흰 배경</c:v>
                </c:pt>
                <c:pt idx="1">
                  <c:v>반응부(Pad)</c:v>
                </c:pt>
                <c:pt idx="2">
                  <c:v>Contrast</c:v>
                </c:pt>
              </c:strCache>
            </c:strRef>
          </c:cat>
          <c:val>
            <c:numRef>
              <c:f>Sheet1!$D$2:$D$4</c:f>
              <c:numCache>
                <c:formatCode>General</c:formatCode>
                <c:ptCount val="3"/>
                <c:pt idx="0">
                  <c:v>28.1</c:v>
                </c:pt>
                <c:pt idx="1">
                  <c:v>0.1</c:v>
                </c:pt>
                <c:pt idx="2">
                  <c:v>0.1</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3-D7A3-4961-8034-8230A46FA4E5}"/>
            </c:ext>
          </c:extLst>
        </c:ser>
        <c:ser>
          <c:idx val="3"/>
          <c:order val="3"/>
          <c:tx>
            <c:strRef>
              <c:f>Sheet1!$E$1</c:f>
              <c:strCache>
                <c:ptCount val="1"/>
                <c:pt idx="0">
                  <c:v>상호작용·잔차</c:v>
                </c:pt>
              </c:strCache>
            </c:strRef>
          </c:tx>
          <c:spPr>
            <a:solidFill>
              <a:srgbClr val="E0E0E0"/>
            </a:solidFill>
            <a:ln w="19050">
              <a:solidFill>
                <a:srgbClr val="FFFFFF"/>
              </a:solidFill>
            </a:ln>
          </c:spPr>
          <c:invertIfNegative val="1"/>
          <c:cat>
            <c:strRef>
              <c:f>Sheet1!$A$2:$A$4</c:f>
              <c:strCache>
                <c:ptCount val="3"/>
                <c:pt idx="0">
                  <c:v>흰 배경</c:v>
                </c:pt>
                <c:pt idx="1">
                  <c:v>반응부(Pad)</c:v>
                </c:pt>
                <c:pt idx="2">
                  <c:v>Contrast</c:v>
                </c:pt>
              </c:strCache>
            </c:strRef>
          </c:cat>
          <c:val>
            <c:numRef>
              <c:f>Sheet1!$E$2:$E$4</c:f>
              <c:numCache>
                <c:formatCode>General</c:formatCode>
                <c:ptCount val="3"/>
                <c:pt idx="0">
                  <c:v>10</c:v>
                </c:pt>
                <c:pt idx="1">
                  <c:v>3.5</c:v>
                </c:pt>
                <c:pt idx="2">
                  <c:v>4.0999999999999996</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4-D7A3-4961-8034-8230A46FA4E5}"/>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300">
                <a:solidFill>
                  <a:srgbClr val="141414"/>
                </a:solidFill>
                <a:latin typeface="Hanken Grotesk"/>
                <a:ea typeface="SUIT"/>
              </a:defRPr>
            </a:pPr>
            <a:endParaRPr lang="ko-KR"/>
          </a:p>
        </c:txPr>
        <c:crossAx val="-2113994440"/>
        <c:crosses val="autoZero"/>
        <c:auto val="1"/>
        <c:lblAlgn val="ctr"/>
        <c:lblOffset val="100"/>
        <c:noMultiLvlLbl val="0"/>
      </c:catAx>
      <c:valAx>
        <c:axId val="-2113994440"/>
        <c:scaling>
          <c:orientation val="minMax"/>
        </c:scaling>
        <c:delete val="0"/>
        <c:axPos val="b"/>
        <c:majorGridlines>
          <c:spPr>
            <a:ln w="9525">
              <a:solidFill>
                <a:srgbClr val="E0E0E0"/>
              </a:solidFill>
            </a:ln>
          </c:spPr>
        </c:majorGridlines>
        <c:numFmt formatCode="0%" sourceLinked="0"/>
        <c:majorTickMark val="out"/>
        <c:minorTickMark val="none"/>
        <c:tickLblPos val="nextTo"/>
        <c:spPr>
          <a:ln>
            <a:noFill/>
          </a:ln>
        </c:spPr>
        <c:txPr>
          <a:bodyPr/>
          <a:lstStyle/>
          <a:p>
            <a:pPr>
              <a:defRPr sz="1100">
                <a:solidFill>
                  <a:srgbClr val="707070"/>
                </a:solidFill>
                <a:latin typeface="Hanken Grotesk"/>
                <a:ea typeface="SUIT"/>
              </a:defRPr>
            </a:pPr>
            <a:endParaRPr lang="ko-KR"/>
          </a:p>
        </c:txPr>
        <c:crossAx val="-2068027336"/>
        <c:crosses val="autoZero"/>
        <c:crossBetween val="between"/>
      </c:valAx>
    </c:plotArea>
    <c:legend>
      <c:legendPos val="b"/>
      <c:overlay val="0"/>
      <c:txPr>
        <a:bodyPr/>
        <a:lstStyle/>
        <a:p>
          <a:pPr>
            <a:defRPr sz="1100">
              <a:solidFill>
                <a:srgbClr val="707070"/>
              </a:solidFill>
              <a:latin typeface="Hanken Grotesk"/>
              <a:ea typeface="SUIT"/>
            </a:defRPr>
          </a:pPr>
          <a:endParaRPr lang="ko-KR"/>
        </a:p>
      </c:txPr>
    </c:legend>
    <c:plotVisOnly val="1"/>
    <c:dispBlanksAs val="gap"/>
    <c:showDLblsOverMax val="1"/>
  </c:chart>
  <c:txPr>
    <a:bodyPr/>
    <a:lstStyle/>
    <a:p>
      <a:pPr>
        <a:defRPr sz="1100">
          <a:solidFill>
            <a:srgbClr val="707070"/>
          </a:solidFill>
          <a:latin typeface="Hanken Grotesk"/>
          <a:ea typeface="SUI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barChart>
        <c:barDir val="col"/>
        <c:grouping val="clustered"/>
        <c:varyColors val="1"/>
        <c:ser>
          <c:idx val="0"/>
          <c:order val="0"/>
          <c:tx>
            <c:strRef>
              <c:f>Sheet1!$B$1</c:f>
              <c:strCache>
                <c:ptCount val="1"/>
                <c:pt idx="0">
                  <c:v>상수 차이</c:v>
                </c:pt>
              </c:strCache>
            </c:strRef>
          </c:tx>
          <c:spPr>
            <a:solidFill>
              <a:srgbClr val="141414"/>
            </a:solidFill>
          </c:spPr>
          <c:invertIfNegative val="1"/>
          <c:dLbls>
            <c:numFmt formatCode="0.00" sourceLinked="0"/>
            <c:spPr>
              <a:noFill/>
              <a:ln>
                <a:noFill/>
              </a:ln>
            </c:spPr>
            <c:txPr>
              <a:bodyPr/>
              <a:lstStyle/>
              <a:p>
                <a:pPr>
                  <a:defRPr sz="1200" b="0">
                    <a:solidFill>
                      <a:srgbClr val="141414"/>
                    </a:solidFill>
                    <a:latin typeface="Hanken Grotesk"/>
                    <a:ea typeface="SUIT"/>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Galaxy S24+</c:v>
                </c:pt>
                <c:pt idx="1">
                  <c:v>iPhone 13 Pro</c:v>
                </c:pt>
                <c:pt idx="2">
                  <c:v>iPhone 16 Pro</c:v>
                </c:pt>
              </c:strCache>
            </c:strRef>
          </c:cat>
          <c:val>
            <c:numRef>
              <c:f>Sheet1!$B$2:$B$4</c:f>
              <c:numCache>
                <c:formatCode>0.00</c:formatCode>
                <c:ptCount val="3"/>
                <c:pt idx="0">
                  <c:v>0.63</c:v>
                </c:pt>
                <c:pt idx="1">
                  <c:v>0.53</c:v>
                </c:pt>
                <c:pt idx="2">
                  <c:v>0.11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E3D-4C20-95CA-9482AC788661}"/>
            </c:ext>
          </c:extLst>
        </c:ser>
        <c:ser>
          <c:idx val="1"/>
          <c:order val="1"/>
          <c:tx>
            <c:strRef>
              <c:f>Sheet1!$C$1</c:f>
              <c:strCache>
                <c:ptCount val="1"/>
                <c:pt idx="0">
                  <c:v>곡선 모양</c:v>
                </c:pt>
              </c:strCache>
            </c:strRef>
          </c:tx>
          <c:spPr>
            <a:solidFill>
              <a:srgbClr val="ADADAD"/>
            </a:solidFill>
          </c:spPr>
          <c:invertIfNegative val="1"/>
          <c:dLbls>
            <c:numFmt formatCode="0.00" sourceLinked="0"/>
            <c:spPr>
              <a:noFill/>
              <a:ln>
                <a:noFill/>
              </a:ln>
            </c:spPr>
            <c:txPr>
              <a:bodyPr/>
              <a:lstStyle/>
              <a:p>
                <a:pPr>
                  <a:defRPr sz="1200" b="0">
                    <a:solidFill>
                      <a:srgbClr val="141414"/>
                    </a:solidFill>
                    <a:latin typeface="Hanken Grotesk"/>
                    <a:ea typeface="SUIT"/>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Galaxy S24+</c:v>
                </c:pt>
                <c:pt idx="1">
                  <c:v>iPhone 13 Pro</c:v>
                </c:pt>
                <c:pt idx="2">
                  <c:v>iPhone 16 Pro</c:v>
                </c:pt>
              </c:strCache>
            </c:strRef>
          </c:cat>
          <c:val>
            <c:numRef>
              <c:f>Sheet1!$C$2:$C$4</c:f>
              <c:numCache>
                <c:formatCode>0.00</c:formatCode>
                <c:ptCount val="3"/>
                <c:pt idx="0">
                  <c:v>0.13</c:v>
                </c:pt>
                <c:pt idx="1">
                  <c:v>0.22</c:v>
                </c:pt>
                <c:pt idx="2">
                  <c:v>0.18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E3D-4C20-95CA-9482AC788661}"/>
            </c:ext>
          </c:extLst>
        </c:ser>
        <c:ser>
          <c:idx val="2"/>
          <c:order val="2"/>
          <c:tx>
            <c:strRef>
              <c:f>Sheet1!$D$1</c:f>
              <c:strCache>
                <c:ptCount val="1"/>
                <c:pt idx="0">
                  <c:v>조명(최대)</c:v>
                </c:pt>
              </c:strCache>
            </c:strRef>
          </c:tx>
          <c:spPr>
            <a:solidFill>
              <a:srgbClr val="E0E0E0"/>
            </a:solidFill>
          </c:spPr>
          <c:invertIfNegative val="1"/>
          <c:dLbls>
            <c:numFmt formatCode="0.00" sourceLinked="0"/>
            <c:spPr>
              <a:noFill/>
              <a:ln>
                <a:noFill/>
              </a:ln>
            </c:spPr>
            <c:txPr>
              <a:bodyPr/>
              <a:lstStyle/>
              <a:p>
                <a:pPr>
                  <a:defRPr sz="1200" b="0">
                    <a:solidFill>
                      <a:srgbClr val="141414"/>
                    </a:solidFill>
                    <a:latin typeface="Hanken Grotesk"/>
                    <a:ea typeface="SUIT"/>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Galaxy S24+</c:v>
                </c:pt>
                <c:pt idx="1">
                  <c:v>iPhone 13 Pro</c:v>
                </c:pt>
                <c:pt idx="2">
                  <c:v>iPhone 16 Pro</c:v>
                </c:pt>
              </c:strCache>
            </c:strRef>
          </c:cat>
          <c:val>
            <c:numRef>
              <c:f>Sheet1!$D$2:$D$4</c:f>
              <c:numCache>
                <c:formatCode>0.00</c:formatCode>
                <c:ptCount val="3"/>
                <c:pt idx="0">
                  <c:v>0.16</c:v>
                </c:pt>
                <c:pt idx="1">
                  <c:v>0.03</c:v>
                </c:pt>
                <c:pt idx="2">
                  <c:v>7.0000000000000007E-2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E3D-4C20-95CA-9482AC788661}"/>
            </c:ext>
          </c:extLst>
        </c:ser>
        <c:dLbls>
          <c:showLegendKey val="0"/>
          <c:showVal val="0"/>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w="9525">
            <a:solidFill>
              <a:srgbClr val="E0E0E0"/>
            </a:solidFill>
          </a:ln>
        </c:spPr>
        <c:txPr>
          <a:bodyPr/>
          <a:lstStyle/>
          <a:p>
            <a:pPr>
              <a:defRPr sz="1300">
                <a:solidFill>
                  <a:srgbClr val="141414"/>
                </a:solidFill>
                <a:latin typeface="Hanken Grotesk"/>
                <a:ea typeface="SUIT"/>
              </a:defRPr>
            </a:pPr>
            <a:endParaRPr lang="ko-KR"/>
          </a:p>
        </c:txPr>
        <c:crossAx val="-2113994440"/>
        <c:crosses val="autoZero"/>
        <c:auto val="1"/>
        <c:lblAlgn val="ctr"/>
        <c:lblOffset val="100"/>
        <c:noMultiLvlLbl val="0"/>
      </c:catAx>
      <c:valAx>
        <c:axId val="-2113994440"/>
        <c:scaling>
          <c:orientation val="minMax"/>
          <c:max val="0.7"/>
          <c:min val="0"/>
        </c:scaling>
        <c:delete val="0"/>
        <c:axPos val="l"/>
        <c:majorGridlines>
          <c:spPr>
            <a:ln w="9525">
              <a:solidFill>
                <a:srgbClr val="E0E0E0"/>
              </a:solidFill>
            </a:ln>
          </c:spPr>
        </c:majorGridlines>
        <c:numFmt formatCode="0.0" sourceLinked="0"/>
        <c:majorTickMark val="out"/>
        <c:minorTickMark val="none"/>
        <c:tickLblPos val="nextTo"/>
        <c:spPr>
          <a:ln>
            <a:noFill/>
          </a:ln>
        </c:spPr>
        <c:txPr>
          <a:bodyPr/>
          <a:lstStyle/>
          <a:p>
            <a:pPr>
              <a:defRPr sz="1100">
                <a:solidFill>
                  <a:srgbClr val="707070"/>
                </a:solidFill>
                <a:latin typeface="Hanken Grotesk"/>
                <a:ea typeface="SUIT"/>
              </a:defRPr>
            </a:pPr>
            <a:endParaRPr lang="ko-KR"/>
          </a:p>
        </c:txPr>
        <c:crossAx val="-2068027336"/>
        <c:crosses val="autoZero"/>
        <c:crossBetween val="between"/>
        <c:majorUnit val="0.1"/>
      </c:valAx>
    </c:plotArea>
    <c:legend>
      <c:legendPos val="b"/>
      <c:overlay val="0"/>
      <c:txPr>
        <a:bodyPr/>
        <a:lstStyle/>
        <a:p>
          <a:pPr>
            <a:defRPr sz="1100">
              <a:solidFill>
                <a:srgbClr val="707070"/>
              </a:solidFill>
              <a:latin typeface="Hanken Grotesk"/>
              <a:ea typeface="SUIT"/>
            </a:defRPr>
          </a:pPr>
          <a:endParaRPr lang="ko-KR"/>
        </a:p>
      </c:txPr>
    </c:legend>
    <c:plotVisOnly val="1"/>
    <c:dispBlanksAs val="gap"/>
    <c:showDLblsOverMax val="1"/>
  </c:chart>
  <c:txPr>
    <a:bodyPr/>
    <a:lstStyle/>
    <a:p>
      <a:pPr>
        <a:defRPr sz="1100">
          <a:solidFill>
            <a:srgbClr val="707070"/>
          </a:solidFill>
          <a:latin typeface="Hanken Grotesk"/>
          <a:ea typeface="SUI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평균 pH 오차</c:v>
                </c:pt>
              </c:strCache>
            </c:strRef>
          </c:tx>
          <c:spPr>
            <a:ln w="31750">
              <a:solidFill>
                <a:srgbClr val="141414"/>
              </a:solidFill>
            </a:ln>
          </c:spPr>
          <c:marker>
            <c:symbol val="circle"/>
            <c:size val="10"/>
            <c:spPr>
              <a:solidFill>
                <a:srgbClr val="141414"/>
              </a:solidFill>
              <a:ln>
                <a:noFill/>
              </a:ln>
            </c:spPr>
          </c:marker>
          <c:dLbls>
            <c:numFmt formatCode="0.00" sourceLinked="0"/>
            <c:spPr>
              <a:noFill/>
              <a:ln>
                <a:noFill/>
              </a:ln>
            </c:spPr>
            <c:txPr>
              <a:bodyPr/>
              <a:lstStyle/>
              <a:p>
                <a:pPr>
                  <a:defRPr sz="1300" b="0">
                    <a:solidFill>
                      <a:srgbClr val="141414"/>
                    </a:solidFill>
                    <a:latin typeface="Hanken Grotesk"/>
                    <a:ea typeface="SUIT"/>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c:v>
                </c:pt>
                <c:pt idx="1">
                  <c:v>1</c:v>
                </c:pt>
                <c:pt idx="2">
                  <c:v>2</c:v>
                </c:pt>
                <c:pt idx="3">
                  <c:v>3</c:v>
                </c:pt>
                <c:pt idx="4">
                  <c:v>전체(12)</c:v>
                </c:pt>
              </c:strCache>
            </c:strRef>
          </c:cat>
          <c:val>
            <c:numRef>
              <c:f>Sheet1!$B$2:$B$6</c:f>
              <c:numCache>
                <c:formatCode>0.00</c:formatCode>
                <c:ptCount val="5"/>
                <c:pt idx="0">
                  <c:v>0.73</c:v>
                </c:pt>
                <c:pt idx="1">
                  <c:v>0.56000000000000005</c:v>
                </c:pt>
                <c:pt idx="2">
                  <c:v>0.48</c:v>
                </c:pt>
                <c:pt idx="3">
                  <c:v>0.45</c:v>
                </c:pt>
                <c:pt idx="4">
                  <c:v>0.41</c:v>
                </c:pt>
              </c:numCache>
            </c:numRef>
          </c:val>
          <c:smooth val="0"/>
          <c:extLst>
            <c:ext xmlns:c16="http://schemas.microsoft.com/office/drawing/2014/chart" uri="{C3380CC4-5D6E-409C-BE32-E72D297353CC}">
              <c16:uniqueId val="{00000000-23CC-4A2A-920A-6D66F20DAF7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w="9525">
            <a:solidFill>
              <a:srgbClr val="E0E0E0"/>
            </a:solidFill>
          </a:ln>
        </c:spPr>
        <c:txPr>
          <a:bodyPr/>
          <a:lstStyle/>
          <a:p>
            <a:pPr>
              <a:defRPr sz="1300">
                <a:solidFill>
                  <a:srgbClr val="141414"/>
                </a:solidFill>
                <a:latin typeface="Hanken Grotesk"/>
                <a:ea typeface="SUIT"/>
              </a:defRPr>
            </a:pPr>
            <a:endParaRPr lang="ko-KR"/>
          </a:p>
        </c:txPr>
        <c:crossAx val="2140495176"/>
        <c:crosses val="autoZero"/>
        <c:auto val="1"/>
        <c:lblAlgn val="ctr"/>
        <c:lblOffset val="100"/>
        <c:noMultiLvlLbl val="0"/>
      </c:catAx>
      <c:valAx>
        <c:axId val="2140495176"/>
        <c:scaling>
          <c:orientation val="minMax"/>
          <c:max val="0.8"/>
          <c:min val="0.3"/>
        </c:scaling>
        <c:delete val="0"/>
        <c:axPos val="l"/>
        <c:majorGridlines>
          <c:spPr>
            <a:ln w="9525">
              <a:solidFill>
                <a:srgbClr val="E0E0E0"/>
              </a:solidFill>
            </a:ln>
          </c:spPr>
        </c:majorGridlines>
        <c:numFmt formatCode="0.0" sourceLinked="0"/>
        <c:majorTickMark val="out"/>
        <c:minorTickMark val="none"/>
        <c:tickLblPos val="nextTo"/>
        <c:spPr>
          <a:ln>
            <a:noFill/>
          </a:ln>
        </c:spPr>
        <c:txPr>
          <a:bodyPr/>
          <a:lstStyle/>
          <a:p>
            <a:pPr>
              <a:defRPr sz="1100">
                <a:solidFill>
                  <a:srgbClr val="707070"/>
                </a:solidFill>
                <a:latin typeface="Hanken Grotesk"/>
                <a:ea typeface="SUIT"/>
              </a:defRPr>
            </a:pPr>
            <a:endParaRPr lang="ko-KR"/>
          </a:p>
        </c:txPr>
        <c:crossAx val="2118791784"/>
        <c:crosses val="autoZero"/>
        <c:crossBetween val="between"/>
        <c:majorUnit val="0.1"/>
      </c:valAx>
    </c:plotArea>
    <c:plotVisOnly val="1"/>
    <c:dispBlanksAs val="gap"/>
    <c:showDLblsOverMax val="0"/>
  </c:chart>
  <c:txPr>
    <a:bodyPr/>
    <a:lstStyle/>
    <a:p>
      <a:pPr>
        <a:defRPr sz="1100">
          <a:solidFill>
            <a:srgbClr val="707070"/>
          </a:solidFill>
          <a:latin typeface="Hanken Grotesk"/>
          <a:ea typeface="SUIT"/>
        </a:defRPr>
      </a:pPr>
      <a:endParaRPr lang="en-US"/>
    </a:p>
  </c:txPr>
  <c:externalData r:id="rId1">
    <c:autoUpdate val="0"/>
  </c:externalData>
</c:chartSpace>
</file>

<file path=ppt/comments/modernComment_100_0.xml><?xml version="1.0" encoding="utf-8"?>
<p188:cmLst xmlns:a="http://schemas.openxmlformats.org/drawingml/2006/main" xmlns:r="http://schemas.openxmlformats.org/officeDocument/2006/relationships" xmlns:p188="http://schemas.microsoft.com/office/powerpoint/2018/8/main">
  <p188:cm id="{8F83B443-74E5-4DA6-8BAA-2F26823569B4}" authorId="{BA487976-0A95-4726-3814-46B3E4E08479}" created="2026-10-28T11:10:18.123">
    <pc:sldMkLst xmlns:pc="http://schemas.microsoft.com/office/powerpoint/2013/main/command">
      <pc:docMk/>
      <pc:sldMk cId="0" sldId="256"/>
    </pc:sldMkLst>
    <p188:txBody>
      <a:bodyPr/>
      <a:lstStyle/>
      <a:p>
        <a:r>
          <a:rPr lang="ko-KR" altLang="en-US"/>
          <a:t>학교 로고 정도 넣으면 좋을듯
폰트 회색 글씨가 더 커도 될듯</a:t>
        </a:r>
      </a:p>
    </p188:txBody>
  </p188:cm>
  <p188:cm id="{E3368088-BA9F-46EF-9DD5-AE33ADFAF872}" authorId="{BA487976-0A95-4726-3814-46B3E4E08479}" created="2026-10-28T11:22:33.135">
    <pc:sldMkLst xmlns:pc="http://schemas.microsoft.com/office/powerpoint/2013/main/command">
      <pc:docMk/>
      <pc:sldMk cId="0" sldId="256"/>
    </pc:sldMkLst>
    <p188:txBody>
      <a:bodyPr/>
      <a:lstStyle/>
      <a:p>
        <a:r>
          <a:rPr lang="ko-KR" altLang="en-US"/>
          <a:t>인용 출처 있는건 피피티에도 표기
페이지 오른쪽 아래쪽에</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E339D276-91A5-48B8-8694-46E065E4B4F7}" authorId="{BA487976-0A95-4726-3814-46B3E4E08479}" created="2026-10-28T11:15:44.859">
    <pc:sldMkLst xmlns:pc="http://schemas.microsoft.com/office/powerpoint/2013/main/command">
      <pc:docMk/>
      <pc:sldMk cId="0" sldId="257"/>
    </pc:sldMkLst>
    <p188:txBody>
      <a:bodyPr/>
      <a:lstStyle/>
      <a:p>
        <a:r>
          <a:rPr lang="ko-KR" altLang="en-US"/>
          <a:t>목차… 고민…
사진 뒤의 연한 네모상자를 테두리만 있는게 나은지? 실사 들어간 논문 피겨 한 번 찾아보기.
피피티에 들어가는 피겨도 번호 매기기.
테이블도.
왼쪽 내용중에서도 중요한 건 볼드 처리나 하이라이트 처리를 통해 강조하면 좋겠.
… 그래서 약간 중구난방.
2번 3번 항목이 붙어잇거나 하면 좋을듯. 지금 문장으로는 딱히 문제점처럼 안느껴져서?
DIC를 풀어서 영어로 쓰고, 다음부터 dic로 표기
말투 통일..? &lt;- 교수님...</a:t>
        </a:r>
      </a:p>
    </p188:txBody>
  </p188:cm>
  <p188:cm id="{C2D8EA1A-7A69-420D-8E77-3C739E30A741}" authorId="{BA487976-0A95-4726-3814-46B3E4E08479}" created="2026-10-28T11:16:37.836">
    <pc:sldMkLst xmlns:pc="http://schemas.microsoft.com/office/powerpoint/2013/main/command">
      <pc:docMk/>
      <pc:sldMk cId="0" sldId="257"/>
    </pc:sldMkLst>
    <p188:txBody>
      <a:bodyPr/>
      <a:lstStyle/>
      <a:p>
        <a:r>
          <a:rPr lang="ko-KR" altLang="en-US"/>
          <a:t>페이지마다 피피티 제목 붙어있는것도 ㄱㅊ을듯</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7C88CD40-E708-4955-88B0-DC9989996A7A}" authorId="{BA487976-0A95-4726-3814-46B3E4E08479}" created="2026-10-28T11:17:37.078">
    <pc:sldMkLst xmlns:pc="http://schemas.microsoft.com/office/powerpoint/2013/main/command">
      <pc:docMk/>
      <pc:sldMk cId="0" sldId="258"/>
    </pc:sldMkLst>
    <p188:txBody>
      <a:bodyPr/>
      <a:lstStyle/>
      <a:p>
        <a:r>
          <a:rPr lang="ko-KR" altLang="en-US"/>
          <a:t>분해 곡선 보정도 영어로 하는게 나을듯
핵심 지표나 단어는 영어로??</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622E94C3-F8E7-4BE3-9B20-E86378CA5BD6}" authorId="{BA487976-0A95-4726-3814-46B3E4E08479}" created="2026-10-28T11:19:39.461">
    <ac:deMkLst xmlns:ac="http://schemas.microsoft.com/office/drawing/2013/main/command">
      <pc:docMk xmlns:pc="http://schemas.microsoft.com/office/powerpoint/2013/main/command"/>
      <pc:sldMk xmlns:pc="http://schemas.microsoft.com/office/powerpoint/2013/main/command" cId="0" sldId="259"/>
      <ac:spMk id="5" creationId="{00000000-0000-0000-0000-000000000000}"/>
    </ac:deMkLst>
    <p188:txBody>
      <a:bodyPr/>
      <a:lstStyle/>
      <a:p>
        <a:r>
          <a:rPr lang="ko-KR" altLang="en-US"/>
          <a:t>시험지 수 제시 안하는게 낫다..?
헷갈림………...</a:t>
        </a:r>
      </a:p>
    </p188:txBody>
  </p188:cm>
  <p188:cm id="{D827BA56-5838-4A2F-9D94-EFB41EB0A738}" authorId="{BA487976-0A95-4726-3814-46B3E4E08479}" created="2026-10-28T11:21:55.290">
    <pc:sldMkLst xmlns:pc="http://schemas.microsoft.com/office/powerpoint/2013/main/command">
      <pc:docMk/>
      <pc:sldMk cId="0" sldId="259"/>
    </pc:sldMkLst>
    <p188:txBody>
      <a:bodyPr/>
      <a:lstStyle/>
      <a:p>
        <a:r>
          <a:rPr lang="ko-KR" altLang="en-US"/>
          <a:t>195도 곱셈의 결과임이 한눈에 들어왔으면 좋을듯.
색공간 설명 추가하기.
기종이 ph 조명이랑 같이 따로 설명하는게 낫고 여기서 수식 밑에 있는게 구성이 애매.</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0F842A51-EE4F-4941-8CE6-484F479C188E}" authorId="{BA487976-0A95-4726-3814-46B3E4E08479}" created="2026-10-28T11:27:22.945">
    <ac:deMkLst xmlns:ac="http://schemas.microsoft.com/office/drawing/2013/main/command">
      <pc:docMk xmlns:pc="http://schemas.microsoft.com/office/powerpoint/2013/main/command"/>
      <pc:sldMk xmlns:pc="http://schemas.microsoft.com/office/powerpoint/2013/main/command" cId="0" sldId="260"/>
      <ac:spMk id="16" creationId="{00000000-0000-0000-0000-000000000000}"/>
    </ac:deMkLst>
    <p188:txBody>
      <a:bodyPr/>
      <a:lstStyle/>
      <a:p>
        <a:r>
          <a:rPr lang="ko-KR" altLang="en-US"/>
          <a:t>분석 용어는 잘 설명하기.
페이지에 별표나 주석으로 넣거나.
꺽쇠로 순서..? 지금도 ㄱㅊ긴 한데.. 페이지가 좀 심심한가..
밑에 작은 텍스트 회색말고 검정으로 할지..
방향 투영이나 보정 비교 영어로?</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DC03B8AE-F19A-4F31-AA5E-D130211A3597}" authorId="{BA487976-0A95-4726-3814-46B3E4E08479}" created="2026-10-28T11:27:52.909">
    <pc:sldMkLst xmlns:pc="http://schemas.microsoft.com/office/powerpoint/2013/main/command">
      <pc:docMk/>
      <pc:sldMk cId="0" sldId="261"/>
    </pc:sldMkLst>
    <p188:txBody>
      <a:bodyPr/>
      <a:lstStyle/>
      <a:p>
        <a:r>
          <a:rPr lang="ko-KR" altLang="en-US"/>
          <a:t>그래프가 그레이톤인게 진짜 별론가…. 색 구분이 별로 안되는것 같긴한데
테이블 이름 빠짐.
Contrast 지표를 왜 봐야하는지 잘 안드러남.</a:t>
        </a:r>
      </a:p>
    </p188:txBody>
  </p188:cm>
  <p188:cm id="{595ADC18-8809-44AC-BB9B-45F1A47CF49F}" authorId="{BA487976-0A95-4726-3814-46B3E4E08479}" created="2026-10-28T11:29:06.959">
    <ac:deMkLst xmlns:ac="http://schemas.microsoft.com/office/drawing/2013/main/command">
      <pc:docMk xmlns:pc="http://schemas.microsoft.com/office/powerpoint/2013/main/command"/>
      <pc:sldMk xmlns:pc="http://schemas.microsoft.com/office/powerpoint/2013/main/command" cId="0" sldId="261"/>
      <ac:spMk id="6" creationId="{00000000-0000-0000-0000-000000000000}"/>
    </ac:deMkLst>
    <p188:txBody>
      <a:bodyPr/>
      <a:lstStyle/>
      <a:p>
        <a:r>
          <a:rPr lang="ko-KR" altLang="en-US"/>
          <a:t>나름 핵심 지표인데 너무 작고 연함. 오른쪽 텍스트랑 합치고 강조를 하는게 나을듯</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26C5ABCB-921E-44C9-9004-12861E69409C}" authorId="{BA487976-0A95-4726-3814-46B3E4E08479}" created="2026-10-28T13:59:05.735">
    <pc:sldMkLst xmlns:pc="http://schemas.microsoft.com/office/powerpoint/2013/main/command">
      <pc:docMk/>
      <pc:sldMk cId="0" sldId="262"/>
    </pc:sldMkLst>
    <p188:txBody>
      <a:bodyPr/>
      <a:lstStyle/>
      <a:p>
        <a:r>
          <a:rPr lang="ko-KR" altLang="en-US"/>
          <a:t>숫자보다 피겨가 중요…
피겨에 abc 지우고
피겨 설명 회색말고 검은색.
피겨 사진도 동그란거 말고 각지게?</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4EB50BAA-D531-4528-BC3A-E5406F9C0032}" authorId="{BA487976-0A95-4726-3814-46B3E4E08479}" created="2026-10-28T14:01:17.148">
    <pc:sldMkLst xmlns:pc="http://schemas.microsoft.com/office/powerpoint/2013/main/command">
      <pc:docMk/>
      <pc:sldMk cId="0" sldId="264"/>
    </pc:sldMkLst>
    <p188:txBody>
      <a:bodyPr/>
      <a:lstStyle/>
      <a:p>
        <a:r>
          <a:rPr lang="ko-KR" altLang="en-US"/>
          <a:t>숫자 강조랑 피겨 유의하지 않음 피밸류 구간 설명 넣?</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315687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25초]</a:t>
            </a:r>
          </a:p>
          <a:p>
            <a:r>
              <a:t>안녕하세요, 팀 pHixel입니다. 저희는 스마트폰으로 pH 시험지를 찍어 pH를 읽을 때 휴대폰 기종과 조명이 결과를 얼마나 흔드는지, 그리고 어떻게 보정하면 되는지를 연구했습니다. 제목처럼 같은 시험지를 찍어도 휴대폰이 다르면 다른 pH로 읽힐 수 있다는 데서 출발했습니다.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a:t>
            </a:r>
          </a:p>
          <a:p>
            <a:r>
              <a:t>갤럭시와 아이폰으로 같은 장면을 찍어도 색감이 다르다는 건 한 번쯤 느껴 보셨을 겁니다. 오른쪽은 같은 pH 6 시험지를 같은 조명에서 세 휴대폰으로 찍은 사진인데 색이 눈에 띄게 다릅니다. 수질 pH처럼 색으로 값을 읽는 검사에서는 이 차이가 곧 측정 오차가 됩니다. 장비가 없는 재난 현장에서 스마트폰은 좋은 대안이지만 기종마다 결과가 달라지면 믿고 쓰기 어렵습니다. 선행 연구도 기기별 보정이 꼭 필요한지를 두고 결론이 갈렸습니다.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a:t>
            </a:r>
          </a:p>
          <a:p>
            <a:r>
              <a:t>처음에는 측정한 기기·조명 차이를 학습 데이터에 섞어서 새 휴대폰의 예측을 개선하려 했습니다. 그런데 결과가 일관되게 좋아지지 않았습니다. 그래서 질문을 바꿨습니다. 기기 차이 가운데 어떤 성분이 실제로 pH 판독을 움직이는지부터 알아야 했습니다. 세 가지를 봤습니다. 색 변화를 pH, 기종, 조명으로 나누면 각각 얼마나 큰지, 기종 간 차이가 pH에 따라 어떻게 달라지는지, 그리고 새 휴대폰에는 보정을 얼마나 해야 하는지입니다.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[약 35초]</a:t>
            </a:r>
          </a:p>
          <a:p>
            <a:r>
              <a:rPr dirty="0" err="1"/>
              <a:t>데이터는</a:t>
            </a:r>
            <a:r>
              <a:rPr dirty="0"/>
              <a:t> </a:t>
            </a:r>
            <a:r>
              <a:rPr dirty="0" err="1"/>
              <a:t>직접</a:t>
            </a:r>
            <a:r>
              <a:rPr dirty="0"/>
              <a:t> </a:t>
            </a:r>
            <a:r>
              <a:rPr dirty="0" err="1"/>
              <a:t>찍었습니다</a:t>
            </a:r>
            <a:r>
              <a:rPr dirty="0"/>
              <a:t>. </a:t>
            </a:r>
            <a:r>
              <a:rPr dirty="0" err="1"/>
              <a:t>갤럭시</a:t>
            </a:r>
            <a:r>
              <a:rPr dirty="0"/>
              <a:t> S24+, </a:t>
            </a:r>
            <a:r>
              <a:rPr dirty="0" err="1"/>
              <a:t>아이폰</a:t>
            </a:r>
            <a:r>
              <a:rPr dirty="0"/>
              <a:t> 13 </a:t>
            </a:r>
            <a:r>
              <a:rPr dirty="0" err="1"/>
              <a:t>프로</a:t>
            </a:r>
            <a:r>
              <a:rPr dirty="0"/>
              <a:t>, </a:t>
            </a:r>
            <a:r>
              <a:rPr dirty="0" err="1"/>
              <a:t>아이폰</a:t>
            </a:r>
            <a:r>
              <a:rPr dirty="0"/>
              <a:t> 16 </a:t>
            </a:r>
            <a:r>
              <a:rPr dirty="0" err="1"/>
              <a:t>프로로</a:t>
            </a:r>
            <a:r>
              <a:rPr dirty="0"/>
              <a:t> pH 1부터 13까지의 </a:t>
            </a:r>
            <a:r>
              <a:rPr dirty="0" err="1"/>
              <a:t>시험지를</a:t>
            </a:r>
            <a:r>
              <a:rPr dirty="0"/>
              <a:t> </a:t>
            </a:r>
            <a:r>
              <a:rPr dirty="0" err="1"/>
              <a:t>다섯</a:t>
            </a:r>
            <a:r>
              <a:rPr dirty="0"/>
              <a:t> </a:t>
            </a:r>
            <a:r>
              <a:rPr dirty="0" err="1"/>
              <a:t>가지</a:t>
            </a:r>
            <a:r>
              <a:rPr dirty="0"/>
              <a:t> </a:t>
            </a:r>
            <a:r>
              <a:rPr dirty="0" err="1"/>
              <a:t>조명에서</a:t>
            </a:r>
            <a:r>
              <a:rPr dirty="0"/>
              <a:t> </a:t>
            </a:r>
            <a:r>
              <a:rPr dirty="0" err="1"/>
              <a:t>촬영해</a:t>
            </a:r>
            <a:r>
              <a:rPr dirty="0"/>
              <a:t> 195장을 </a:t>
            </a:r>
            <a:r>
              <a:rPr dirty="0" err="1"/>
              <a:t>모았습니다</a:t>
            </a:r>
            <a:r>
              <a:rPr dirty="0"/>
              <a:t>. </a:t>
            </a:r>
            <a:r>
              <a:rPr dirty="0" err="1"/>
              <a:t>시험지</a:t>
            </a:r>
            <a:r>
              <a:rPr dirty="0"/>
              <a:t> </a:t>
            </a:r>
            <a:r>
              <a:rPr dirty="0" err="1"/>
              <a:t>하나를</a:t>
            </a:r>
            <a:r>
              <a:rPr dirty="0"/>
              <a:t> </a:t>
            </a:r>
            <a:r>
              <a:rPr dirty="0" err="1"/>
              <a:t>조명만</a:t>
            </a:r>
            <a:r>
              <a:rPr dirty="0"/>
              <a:t> </a:t>
            </a:r>
            <a:r>
              <a:rPr dirty="0" err="1"/>
              <a:t>바꿔</a:t>
            </a:r>
            <a:r>
              <a:rPr dirty="0"/>
              <a:t> </a:t>
            </a:r>
            <a:r>
              <a:rPr dirty="0" err="1"/>
              <a:t>다섯</a:t>
            </a:r>
            <a:r>
              <a:rPr dirty="0"/>
              <a:t> 번 </a:t>
            </a:r>
            <a:r>
              <a:rPr dirty="0" err="1"/>
              <a:t>찍었으니</a:t>
            </a:r>
            <a:r>
              <a:rPr dirty="0"/>
              <a:t> </a:t>
            </a:r>
            <a:r>
              <a:rPr dirty="0" err="1"/>
              <a:t>독립된</a:t>
            </a:r>
            <a:r>
              <a:rPr dirty="0"/>
              <a:t> </a:t>
            </a:r>
            <a:r>
              <a:rPr dirty="0" err="1"/>
              <a:t>표본은</a:t>
            </a:r>
            <a:r>
              <a:rPr dirty="0"/>
              <a:t> 195개가 </a:t>
            </a:r>
            <a:r>
              <a:rPr dirty="0" err="1"/>
              <a:t>아니라</a:t>
            </a:r>
            <a:r>
              <a:rPr dirty="0"/>
              <a:t> 39개입니다. </a:t>
            </a:r>
            <a:r>
              <a:rPr dirty="0" err="1"/>
              <a:t>모든</a:t>
            </a:r>
            <a:r>
              <a:rPr dirty="0"/>
              <a:t> </a:t>
            </a:r>
            <a:r>
              <a:rPr dirty="0" err="1"/>
              <a:t>분석의</a:t>
            </a:r>
            <a:r>
              <a:rPr dirty="0"/>
              <a:t> </a:t>
            </a:r>
            <a:r>
              <a:rPr dirty="0" err="1"/>
              <a:t>단위도</a:t>
            </a:r>
            <a:r>
              <a:rPr dirty="0"/>
              <a:t> </a:t>
            </a:r>
            <a:r>
              <a:rPr dirty="0" err="1"/>
              <a:t>사진이</a:t>
            </a:r>
            <a:r>
              <a:rPr dirty="0"/>
              <a:t> </a:t>
            </a:r>
            <a:r>
              <a:rPr dirty="0" err="1"/>
              <a:t>아닌</a:t>
            </a:r>
            <a:r>
              <a:rPr dirty="0"/>
              <a:t> </a:t>
            </a:r>
            <a:r>
              <a:rPr dirty="0" err="1"/>
              <a:t>시험지로</a:t>
            </a:r>
            <a:r>
              <a:rPr dirty="0"/>
              <a:t> </a:t>
            </a:r>
            <a:r>
              <a:rPr dirty="0" err="1"/>
              <a:t>잡았습니다</a:t>
            </a:r>
            <a:r>
              <a:rPr dirty="0"/>
              <a:t>. 각 </a:t>
            </a:r>
            <a:r>
              <a:rPr dirty="0" err="1"/>
              <a:t>사진에서</a:t>
            </a:r>
            <a:r>
              <a:rPr dirty="0"/>
              <a:t> </a:t>
            </a:r>
            <a:r>
              <a:rPr dirty="0" err="1"/>
              <a:t>반응부와</a:t>
            </a:r>
            <a:r>
              <a:rPr dirty="0"/>
              <a:t> 옆 흰 </a:t>
            </a:r>
            <a:r>
              <a:rPr dirty="0" err="1"/>
              <a:t>배경의</a:t>
            </a:r>
            <a:r>
              <a:rPr dirty="0"/>
              <a:t> </a:t>
            </a:r>
            <a:r>
              <a:rPr dirty="0" err="1"/>
              <a:t>색을</a:t>
            </a:r>
            <a:r>
              <a:rPr dirty="0"/>
              <a:t> CIELAB </a:t>
            </a:r>
            <a:r>
              <a:rPr dirty="0" err="1"/>
              <a:t>값으로</a:t>
            </a:r>
            <a:r>
              <a:rPr dirty="0"/>
              <a:t> </a:t>
            </a:r>
            <a:r>
              <a:rPr dirty="0" err="1"/>
              <a:t>뽑았습니다</a:t>
            </a:r>
            <a:r>
              <a:rPr dirty="0"/>
              <a:t>. </a:t>
            </a:r>
            <a:r>
              <a:rPr dirty="0" err="1"/>
              <a:t>반응부에서</a:t>
            </a:r>
            <a:r>
              <a:rPr dirty="0"/>
              <a:t> </a:t>
            </a:r>
            <a:r>
              <a:rPr dirty="0" err="1"/>
              <a:t>배경을</a:t>
            </a:r>
            <a:r>
              <a:rPr dirty="0"/>
              <a:t> 뺀 </a:t>
            </a:r>
            <a:r>
              <a:rPr dirty="0" err="1"/>
              <a:t>값은</a:t>
            </a:r>
            <a:r>
              <a:rPr dirty="0"/>
              <a:t> </a:t>
            </a:r>
            <a:r>
              <a:rPr dirty="0" err="1"/>
              <a:t>Contrast라고</a:t>
            </a:r>
            <a:r>
              <a:rPr dirty="0"/>
              <a:t> </a:t>
            </a:r>
            <a:r>
              <a:rPr dirty="0" err="1"/>
              <a:t>부르겠습니다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a:t>
            </a:r>
          </a:p>
          <a:p>
            <a:r>
              <a:t>분석은 네 단계로 했습니다. 먼저 ASCA로 색 변동을 pH, 기종, 조명과 그 상호작용으로 나눴습니다. 검정은 시험지를 통째로 섞는 순열검정으로 했습니다. 다음으로 GAMM으로 기종별 pH–색 곡선을 그렸습니다. 공통 곡선만 둔 M0, 기종별 상수 차이를 더한 M1, 곡선 모양까지 다르게 둔 M2를 비교했습니다. 세 번째 단계가 핵심입니다. 색이 많이 바뀌어도 그 방향이 pH가 변하는 방향과 어긋나 있으면 판독은 별로 안 움직입니다. 그래서 방해 성분마다 pH 방향 성분만 골라 pH 단위로 바꿨습니다. 마지막으로 한 기종을 처음 보는 휴대폰으로 두고 pH를 아는 참조 시험지 몇 장으로 보정했을 때 오차가 얼마나 줄어드는지 봤습니다.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a:t>
            </a:r>
          </a:p>
          <a:p>
            <a:r>
              <a:t>첫 번째 결과입니다. 흰 배경은 색 변동의 93%가 기종과 조명에서 왔고 pH 효과는 시험지 단위 검정에서 유의하지 않았습니다. 배경에는 기기와 조명이 만든 색 차이만 들어 있는 셈입니다. 반응부에서 이 배경을 빼면 기종 효과 비중이 18%에서 9%로 줄고 pH 효과는 78%에서 87%로 늘어납니다. 추가 촬영 없이 사진 한 장 안에서 끝나는 1차 보정입니다.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a:t>
            </a:r>
          </a:p>
          <a:p>
            <a:r>
              <a:t>다만 배경을 빼도 기종 차이가 다 사라지지는 않았습니다. ASCA에서 pH와 기종의 상호작용이 색을 움직이는 방향은 pH 효과 방향과 약 58도 어긋나 있었습니다. 오른쪽은 GAMM으로 추정한 기종별 곡선입니다. 갤럭시는 L* 곡선이 전체적으로 위에 있고 아이폰 13 프로는 높은 pH에서 b*가 더 빨리 떨어집니다. 기종별 곡선을 허용하면 시험지 간 변동의 39에서 66%가 설명됐습니다. 그럼 이 곡선 차이까지 보정해야 할까요?</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45초]</a:t>
            </a:r>
          </a:p>
          <a:p>
            <a:r>
              <a:t>방해 성분을 모두 pH 단위로 바꿔 비교했습니다. 기종별 상수 차이, 즉 오프셋이 가장 컸습니다. 갤럭시는 평균 0.63, 아이폰 13 프로는 0.53 pH만큼 판독을 밀어냈습니다. 곡선 모양 차이는 0.13에서 0.22, 조명은 0.16 이하였습니다. 차이는 방향에서 갈렸습니다. 갤럭시와 13 프로의 오프셋은 pH 방향과 30도대로 가까웠고 16 프로는 72도로 거의 직각이라 판독이 0.11 pH만 움직였습니다. 이렇게 색 구조만으로 계산한 값은 보정 없이 새 휴대폰을 읽었을 때 실제로 생긴 치우침과 크기가 거의 같았습니다.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45초]</a:t>
            </a:r>
          </a:p>
          <a:p>
            <a:r>
              <a:t>그럼 새 휴대폰은 얼마나 보정해야 할까요? 한 기종을 빼고 나머지 두 기종으로 기준 곡선을 만들었습니다. 그다음 빠진 기종으로 참조 시험지 몇 장을 찍어 상수 차이만 보정했습니다. 보정하지 않으면 평균 오차가 0.73 pH였고 한 장이면 0.56, 두 장이면 0.48, 세 장이면 0.45까지 줄었습니다. 12장을 모두 쓴 0.41과 비교하면 두세 장으로 개선 폭의 77에서 86%를 얻습니다. 곡선 모양까지 보정해도 0.03 pH밖에 줄지 않았습니다. 흰 배경으로 하는 화이트밸런스 같은 보정은 오프셋을 없애지 못했습니다.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45초]</a:t>
            </a:r>
          </a:p>
          <a:p>
            <a:r>
              <a:t>방법론에서 얻은 교훈도 있습니다. 시험지 하나를 여러 번 찍은 사진들을 독립 표본처럼 다루면 결과가 부풀려집니다. 배경의 pH 효과는 사진 단위로 검정하면 p값이 0.0001이지만 시험지 단위로 보면 0.57입니다. 예측 성능도 사진 단위 검증에서는 개선 폭이 3.8, 시험지 단위로는 0.9로 네 배쯤 차이가 났습니다. 모의실험에서 사진 단위 검정은 효과가 없는데도 75에서 100%의 확률로 유의하다고 판정했습니다. 반복 촬영으로 데이터를 늘리는 일이 흔한 분야라서 분석 단위를 실험 단위에 맞추는 일이 중요합니다.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a:t>
            </a:r>
          </a:p>
          <a:p>
            <a:r>
              <a:t>정리하겠습니다. 첫째, 흰 배경을 빼는 것만으로 기기와 조명 차이를 꽤 줄일 수 있습니다. 둘째, pH 판독은 기종별 상수 차이에 크게 좌우되고 그 영향은 차이의 크기와 pH 방향과의 각도로 설명됩니다. 셋째, 새 휴대폰마다 pH를 아는 참조 시험지 두세 장만 찍어 보정하면 기대할 수 있는 개선의 대부분을 얻습니다. 한계도 있습니다. 조건마다 시험지를 한 장씩 썼고 휴대폰 세 대와 시험지 한 종류, 좁은 조명 범위에서 얻은 결과입니다. 앞으로 반복 시험지와 더 많은 기종으로 확인해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5초]</a:t>
            </a:r>
          </a:p>
          <a:p>
            <a:r>
              <a:t>들어 주셔서 감사합니다. 질문 받겠습니다.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3974084"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3605784"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2026 과학기술대학 학술제 · 팀 pHixel</a:t>
            </a:r>
          </a:p>
        </p:txBody>
      </p:sp>
      <p:sp>
        <p:nvSpPr>
          <p:cNvPr id="5" name="Title"/>
          <p:cNvSpPr txBox="1"/>
          <p:nvPr/>
        </p:nvSpPr>
        <p:spPr>
          <a:xfrm>
            <a:off x="609600" y="2794000"/>
            <a:ext cx="10160000" cy="889000"/>
          </a:xfrm>
          <a:prstGeom prst="rect">
            <a:avLst/>
          </a:prstGeom>
          <a:noFill/>
        </p:spPr>
        <p:txBody>
          <a:bodyPr wrap="square" lIns="0" tIns="0" rIns="0" bIns="0" anchor="b">
            <a:noAutofit/>
          </a:bodyPr>
          <a:lstStyle/>
          <a:p>
            <a:pPr algn="l">
              <a:lnSpc>
                <a:spcPct val="100000"/>
              </a:lnSpc>
            </a:pPr>
            <a:r>
              <a:rPr lang="ko-KR" altLang="en-US" sz="5600" dirty="0">
                <a:solidFill>
                  <a:srgbClr val="141414"/>
                </a:solidFill>
                <a:latin typeface="Hanken Grotesk SemiBold"/>
                <a:ea typeface="SUIT SemiBold"/>
                <a:cs typeface="SUIT SemiBold"/>
              </a:rPr>
              <a:t>제목</a:t>
            </a:r>
            <a:r>
              <a:rPr lang="en-US" altLang="ko-KR" sz="5600" dirty="0">
                <a:solidFill>
                  <a:srgbClr val="141414"/>
                </a:solidFill>
                <a:latin typeface="Hanken Grotesk SemiBold"/>
                <a:ea typeface="SUIT SemiBold"/>
                <a:cs typeface="SUIT SemiBold"/>
              </a:rPr>
              <a:t>…</a:t>
            </a:r>
            <a:r>
              <a:rPr lang="ko-KR" sz="5600" b="0" dirty="0">
                <a:solidFill>
                  <a:srgbClr val="141414"/>
                </a:solidFill>
                <a:latin typeface="Hanken Grotesk SemiBold"/>
                <a:ea typeface="SUIT SemiBold"/>
                <a:cs typeface="SUIT SemiBold"/>
              </a:rPr>
              <a:t>.</a:t>
            </a:r>
            <a:r>
              <a:rPr lang="en-US" altLang="ko-KR" sz="5600" b="0" dirty="0">
                <a:solidFill>
                  <a:srgbClr val="141414"/>
                </a:solidFill>
                <a:latin typeface="Hanken Grotesk SemiBold"/>
                <a:ea typeface="SUIT SemiBold"/>
                <a:cs typeface="SUIT SemiBold"/>
              </a:rPr>
              <a:t>title…</a:t>
            </a:r>
            <a:endParaRPr lang="ko-KR" sz="5600" b="0" dirty="0">
              <a:solidFill>
                <a:srgbClr val="141414"/>
              </a:solidFill>
              <a:latin typeface="Hanken Grotesk SemiBold"/>
              <a:ea typeface="SUIT SemiBold"/>
              <a:cs typeface="SUIT SemiBold"/>
            </a:endParaRPr>
          </a:p>
        </p:txBody>
      </p:sp>
      <p:sp>
        <p:nvSpPr>
          <p:cNvPr id="6" name="Lead"/>
          <p:cNvSpPr txBox="1"/>
          <p:nvPr/>
        </p:nvSpPr>
        <p:spPr>
          <a:xfrm>
            <a:off x="609600" y="3835400"/>
            <a:ext cx="8890000" cy="381000"/>
          </a:xfrm>
          <a:prstGeom prst="rect">
            <a:avLst/>
          </a:prstGeom>
          <a:noFill/>
        </p:spPr>
        <p:txBody>
          <a:bodyPr wrap="square" lIns="0" tIns="0" rIns="0" bIns="0" anchor="t">
            <a:noAutofit/>
          </a:bodyPr>
          <a:lstStyle/>
          <a:p>
            <a:pPr algn="l">
              <a:lnSpc>
                <a:spcPct val="138000"/>
              </a:lnSpc>
            </a:pPr>
            <a:r>
              <a:rPr lang="ko-KR" sz="1800" b="0" dirty="0">
                <a:solidFill>
                  <a:srgbClr val="707070"/>
                </a:solidFill>
                <a:latin typeface="Hanken Grotesk Light"/>
                <a:ea typeface="SUIT Light"/>
                <a:cs typeface="SUIT Light"/>
              </a:rPr>
              <a:t>스마트폰 기반 </a:t>
            </a:r>
            <a:r>
              <a:rPr lang="ko-KR" sz="1800" b="0" dirty="0" err="1">
                <a:solidFill>
                  <a:srgbClr val="707070"/>
                </a:solidFill>
                <a:latin typeface="Hanken Grotesk Light"/>
                <a:ea typeface="SUIT Light"/>
                <a:cs typeface="SUIT Light"/>
              </a:rPr>
              <a:t>pH</a:t>
            </a:r>
            <a:r>
              <a:rPr lang="ko-KR" sz="1800" b="0" dirty="0">
                <a:solidFill>
                  <a:srgbClr val="707070"/>
                </a:solidFill>
                <a:latin typeface="Hanken Grotesk Light"/>
                <a:ea typeface="SUIT Light"/>
                <a:cs typeface="SUIT Light"/>
              </a:rPr>
              <a:t> 색도 측정에서 </a:t>
            </a:r>
            <a:r>
              <a:rPr lang="ko-KR" sz="1800" b="0" dirty="0" err="1">
                <a:solidFill>
                  <a:srgbClr val="707070"/>
                </a:solidFill>
                <a:latin typeface="Hanken Grotesk Light"/>
                <a:ea typeface="SUIT Light"/>
                <a:cs typeface="SUIT Light"/>
              </a:rPr>
              <a:t>pH에</a:t>
            </a:r>
            <a:r>
              <a:rPr lang="ko-KR" sz="1800" b="0" dirty="0">
                <a:solidFill>
                  <a:srgbClr val="707070"/>
                </a:solidFill>
                <a:latin typeface="Hanken Grotesk Light"/>
                <a:ea typeface="SUIT Light"/>
                <a:cs typeface="SUIT Light"/>
              </a:rPr>
              <a:t> 따라 달라지는 </a:t>
            </a:r>
            <a:r>
              <a:rPr lang="ko-KR" sz="1800" b="0" dirty="0" err="1">
                <a:solidFill>
                  <a:srgbClr val="707070"/>
                </a:solidFill>
                <a:latin typeface="Hanken Grotesk Light"/>
                <a:ea typeface="SUIT Light"/>
                <a:cs typeface="SUIT Light"/>
              </a:rPr>
              <a:t>기기·조명</a:t>
            </a:r>
            <a:r>
              <a:rPr lang="ko-KR" sz="1800" b="0" dirty="0">
                <a:solidFill>
                  <a:srgbClr val="707070"/>
                </a:solidFill>
                <a:latin typeface="Hanken Grotesk Light"/>
                <a:ea typeface="SUIT Light"/>
                <a:cs typeface="SUIT Light"/>
              </a:rPr>
              <a:t> 영향과 보정 방법 분석</a:t>
            </a:r>
          </a:p>
        </p:txBody>
      </p:sp>
      <p:sp>
        <p:nvSpPr>
          <p:cNvPr id="7" name="Presenter pill"/>
          <p:cNvSpPr/>
          <p:nvPr/>
        </p:nvSpPr>
        <p:spPr>
          <a:xfrm>
            <a:off x="609600" y="5588000"/>
            <a:ext cx="2978150" cy="457200"/>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Presenter pill text"/>
          <p:cNvSpPr txBox="1"/>
          <p:nvPr/>
        </p:nvSpPr>
        <p:spPr>
          <a:xfrm>
            <a:off x="609600" y="5588000"/>
            <a:ext cx="2978150" cy="457200"/>
          </a:xfrm>
          <a:prstGeom prst="rect">
            <a:avLst/>
          </a:prstGeom>
          <a:noFill/>
        </p:spPr>
        <p:txBody>
          <a:bodyPr wrap="square" lIns="0" tIns="0" rIns="0" bIns="0" anchor="ctr">
            <a:noAutofit/>
          </a:bodyPr>
          <a:lstStyle/>
          <a:p>
            <a:pPr algn="ctr">
              <a:lnSpc>
                <a:spcPct val="100000"/>
              </a:lnSpc>
            </a:pPr>
            <a:r>
              <a:rPr lang="ko-KR" sz="1400" b="0">
                <a:solidFill>
                  <a:srgbClr val="FFFFFF"/>
                </a:solidFill>
                <a:latin typeface="Hanken Grotesk SemiBold"/>
                <a:ea typeface="SUIT SemiBold"/>
                <a:cs typeface="SUIT SemiBold"/>
              </a:rPr>
              <a:t>홍연정 · 김소연 | 정보통계학전공</a:t>
            </a:r>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1669796"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1301496"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01 연구 배경</a:t>
            </a:r>
          </a:p>
        </p:txBody>
      </p:sp>
      <p:sp>
        <p:nvSpPr>
          <p:cNvPr id="5" name="Title"/>
          <p:cNvSpPr txBox="1"/>
          <p:nvPr/>
        </p:nvSpPr>
        <p:spPr>
          <a:xfrm>
            <a:off x="609600" y="1016000"/>
            <a:ext cx="10972800" cy="508000"/>
          </a:xfrm>
          <a:prstGeom prst="rect">
            <a:avLst/>
          </a:prstGeom>
          <a:noFill/>
        </p:spPr>
        <p:txBody>
          <a:bodyPr wrap="square" lIns="0" tIns="0" rIns="0" bIns="0" anchor="t">
            <a:noAutofit/>
          </a:bodyPr>
          <a:lstStyle/>
          <a:p>
            <a:pPr algn="l">
              <a:lnSpc>
                <a:spcPct val="113000"/>
              </a:lnSpc>
            </a:pPr>
            <a:r>
              <a:rPr lang="ko-KR" sz="3200" b="0">
                <a:solidFill>
                  <a:srgbClr val="141414"/>
                </a:solidFill>
                <a:latin typeface="Hanken Grotesk SemiBold"/>
                <a:ea typeface="SUIT SemiBold"/>
                <a:cs typeface="SUIT SemiBold"/>
              </a:rPr>
              <a:t>같은 시험지도 휴대폰마다 다른 색으로 찍힌다.</a:t>
            </a:r>
          </a:p>
        </p:txBody>
      </p:sp>
      <p:sp>
        <p:nvSpPr>
          <p:cNvPr id="6" name="Page number"/>
          <p:cNvSpPr txBox="1"/>
          <p:nvPr/>
        </p:nvSpPr>
        <p:spPr>
          <a:xfrm>
            <a:off x="10312400" y="6311900"/>
            <a:ext cx="1270000" cy="139700"/>
          </a:xfrm>
          <a:prstGeom prst="rect">
            <a:avLst/>
          </a:prstGeom>
          <a:noFill/>
        </p:spPr>
        <p:txBody>
          <a:bodyPr wrap="square" lIns="0" tIns="0" rIns="0" bIns="0" anchor="t">
            <a:noAutofit/>
          </a:bodyPr>
          <a:lstStyle/>
          <a:p>
            <a:pPr algn="r">
              <a:lnSpc>
                <a:spcPct val="100000"/>
              </a:lnSpc>
            </a:pPr>
            <a:r>
              <a:rPr lang="ko-KR" sz="1100" b="0">
                <a:solidFill>
                  <a:srgbClr val="ADADAD"/>
                </a:solidFill>
                <a:latin typeface="Hanken Grotesk"/>
                <a:ea typeface="SUIT"/>
                <a:cs typeface="SUIT"/>
              </a:rPr>
              <a:t>2</a:t>
            </a:r>
          </a:p>
        </p:txBody>
      </p:sp>
      <p:sp>
        <p:nvSpPr>
          <p:cNvPr id="7" name="Body"/>
          <p:cNvSpPr txBox="1"/>
          <p:nvPr/>
        </p:nvSpPr>
        <p:spPr>
          <a:xfrm>
            <a:off x="609600" y="2032000"/>
            <a:ext cx="4064000" cy="3556000"/>
          </a:xfrm>
          <a:prstGeom prst="rect">
            <a:avLst/>
          </a:prstGeom>
          <a:noFill/>
        </p:spPr>
        <p:txBody>
          <a:bodyPr wrap="square" lIns="0" tIns="0" rIns="0" bIns="0" anchor="t">
            <a:noAutofit/>
          </a:bodyPr>
          <a:lstStyle/>
          <a:p>
            <a:pPr marL="190500" indent="-190500" algn="l">
              <a:lnSpc>
                <a:spcPct val="138000"/>
              </a:lnSpc>
              <a:spcAft>
                <a:spcPts val="2200"/>
              </a:spcAft>
              <a:buClr>
                <a:srgbClr val="707070"/>
              </a:buClr>
              <a:buFont typeface="Arial"/>
              <a:buChar char="•"/>
            </a:pPr>
            <a:r>
              <a:rPr lang="ko-KR" sz="1600" b="0">
                <a:solidFill>
                  <a:srgbClr val="141414"/>
                </a:solidFill>
                <a:latin typeface="Hanken Grotesk"/>
                <a:ea typeface="SUIT"/>
                <a:cs typeface="SUIT"/>
              </a:rPr>
              <a:t>사진 속 색을 수치로 바꿔 pH를 읽는 디지털 이미지 색도 분석(DIC)</a:t>
            </a:r>
          </a:p>
          <a:p>
            <a:pPr marL="190500" indent="-190500" algn="l">
              <a:lnSpc>
                <a:spcPct val="138000"/>
              </a:lnSpc>
              <a:spcAft>
                <a:spcPts val="2200"/>
              </a:spcAft>
              <a:buClr>
                <a:srgbClr val="707070"/>
              </a:buClr>
              <a:buFont typeface="Arial"/>
              <a:buChar char="•"/>
            </a:pPr>
            <a:r>
              <a:rPr lang="ko-KR" sz="1600" b="0">
                <a:solidFill>
                  <a:srgbClr val="141414"/>
                </a:solidFill>
                <a:latin typeface="Hanken Grotesk"/>
                <a:ea typeface="SUIT"/>
                <a:cs typeface="SUIT"/>
              </a:rPr>
              <a:t>측정 장비가 없는 재난 현장에서도 스마트폰은 바로 쓸 수 있다</a:t>
            </a:r>
          </a:p>
          <a:p>
            <a:pPr marL="190500" indent="-190500" algn="l">
              <a:lnSpc>
                <a:spcPct val="138000"/>
              </a:lnSpc>
              <a:spcAft>
                <a:spcPts val="2200"/>
              </a:spcAft>
              <a:buClr>
                <a:srgbClr val="707070"/>
              </a:buClr>
              <a:buFont typeface="Arial"/>
              <a:buChar char="•"/>
            </a:pPr>
            <a:r>
              <a:rPr lang="ko-KR" sz="1600" b="0">
                <a:solidFill>
                  <a:srgbClr val="141414"/>
                </a:solidFill>
                <a:latin typeface="Hanken Grotesk"/>
                <a:ea typeface="SUIT"/>
                <a:cs typeface="SUIT"/>
              </a:rPr>
              <a:t>기종과 조명이 바뀌면 같은 pH도 다른 값으로 읽힌다</a:t>
            </a:r>
          </a:p>
          <a:p>
            <a:pPr marL="190500" indent="-190500" algn="l">
              <a:lnSpc>
                <a:spcPct val="138000"/>
              </a:lnSpc>
              <a:buClr>
                <a:srgbClr val="707070"/>
              </a:buClr>
              <a:buFont typeface="Arial"/>
              <a:buChar char="•"/>
            </a:pPr>
            <a:r>
              <a:rPr lang="ko-KR" sz="1600" b="0">
                <a:solidFill>
                  <a:srgbClr val="141414"/>
                </a:solidFill>
                <a:latin typeface="Hanken Grotesk"/>
                <a:ea typeface="SUIT"/>
                <a:cs typeface="SUIT"/>
              </a:rPr>
              <a:t>기기별 보정이 필요한지에 대해 선행 연구의 결론이 엇갈린다</a:t>
            </a:r>
          </a:p>
        </p:txBody>
      </p:sp>
      <p:sp>
        <p:nvSpPr>
          <p:cNvPr id="8" name="Image frame"/>
          <p:cNvSpPr/>
          <p:nvPr/>
        </p:nvSpPr>
        <p:spPr>
          <a:xfrm>
            <a:off x="5080000" y="1905000"/>
            <a:ext cx="6502400" cy="3556000"/>
          </a:xfrm>
          <a:prstGeom prst="roundRect">
            <a:avLst>
              <a:gd name="adj" fmla="val 6428"/>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Strip photo 1" descr="panel_0.png"/>
          <p:cNvPicPr>
            <a:picLocks noChangeAspect="1"/>
          </p:cNvPicPr>
          <p:nvPr/>
        </p:nvPicPr>
        <p:blipFill>
          <a:blip r:embed="rId4"/>
          <a:stretch>
            <a:fillRect/>
          </a:stretch>
        </p:blipFill>
        <p:spPr>
          <a:xfrm>
            <a:off x="5283200" y="2313796"/>
            <a:ext cx="1964267" cy="2611409"/>
          </a:xfrm>
          <a:prstGeom prst="roundRect">
            <a:avLst>
              <a:gd name="adj" fmla="val 7758"/>
            </a:avLst>
          </a:prstGeom>
        </p:spPr>
      </p:pic>
      <p:sp>
        <p:nvSpPr>
          <p:cNvPr id="10" name="Phone badge 1"/>
          <p:cNvSpPr/>
          <p:nvPr/>
        </p:nvSpPr>
        <p:spPr>
          <a:xfrm>
            <a:off x="5727171" y="4569604"/>
            <a:ext cx="1076325" cy="254000"/>
          </a:xfrm>
          <a:prstGeom prst="roundRect">
            <a:avLst>
              <a:gd name="adj" fmla="val 50000"/>
            </a:avLst>
          </a:prstGeom>
          <a:solidFill>
            <a:srgbClr val="737373">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Phone badge 1 text"/>
          <p:cNvSpPr txBox="1"/>
          <p:nvPr/>
        </p:nvSpPr>
        <p:spPr>
          <a:xfrm>
            <a:off x="5727171" y="4569604"/>
            <a:ext cx="1076325" cy="254000"/>
          </a:xfrm>
          <a:prstGeom prst="rect">
            <a:avLst/>
          </a:prstGeom>
          <a:noFill/>
        </p:spPr>
        <p:txBody>
          <a:bodyPr wrap="square" lIns="0" tIns="0" rIns="0" bIns="0" anchor="ctr">
            <a:noAutofit/>
          </a:bodyPr>
          <a:lstStyle/>
          <a:p>
            <a:pPr algn="ctr">
              <a:lnSpc>
                <a:spcPct val="100000"/>
              </a:lnSpc>
            </a:pPr>
            <a:r>
              <a:rPr lang="ko-KR" sz="1100" b="0">
                <a:solidFill>
                  <a:srgbClr val="FFFFFF"/>
                </a:solidFill>
                <a:latin typeface="Hanken Grotesk SemiBold"/>
                <a:ea typeface="SUIT SemiBold"/>
                <a:cs typeface="SUIT SemiBold"/>
              </a:rPr>
              <a:t>Galaxy S24+</a:t>
            </a:r>
          </a:p>
        </p:txBody>
      </p:sp>
      <p:pic>
        <p:nvPicPr>
          <p:cNvPr id="12" name="Strip photo 2" descr="panel_1.png"/>
          <p:cNvPicPr>
            <a:picLocks noChangeAspect="1"/>
          </p:cNvPicPr>
          <p:nvPr/>
        </p:nvPicPr>
        <p:blipFill>
          <a:blip r:embed="rId5"/>
          <a:stretch>
            <a:fillRect/>
          </a:stretch>
        </p:blipFill>
        <p:spPr>
          <a:xfrm>
            <a:off x="7349067" y="2303595"/>
            <a:ext cx="1964267" cy="2631810"/>
          </a:xfrm>
          <a:prstGeom prst="roundRect">
            <a:avLst>
              <a:gd name="adj" fmla="val 7758"/>
            </a:avLst>
          </a:prstGeom>
        </p:spPr>
      </p:pic>
      <p:sp>
        <p:nvSpPr>
          <p:cNvPr id="13" name="Phone badge 2"/>
          <p:cNvSpPr/>
          <p:nvPr/>
        </p:nvSpPr>
        <p:spPr>
          <a:xfrm>
            <a:off x="7713662" y="4579805"/>
            <a:ext cx="1235075" cy="254000"/>
          </a:xfrm>
          <a:prstGeom prst="roundRect">
            <a:avLst>
              <a:gd name="adj" fmla="val 50000"/>
            </a:avLst>
          </a:prstGeom>
          <a:solidFill>
            <a:srgbClr val="737373">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Phone badge 2 text"/>
          <p:cNvSpPr txBox="1"/>
          <p:nvPr/>
        </p:nvSpPr>
        <p:spPr>
          <a:xfrm>
            <a:off x="7713662" y="4579805"/>
            <a:ext cx="1235075" cy="254000"/>
          </a:xfrm>
          <a:prstGeom prst="rect">
            <a:avLst/>
          </a:prstGeom>
          <a:noFill/>
        </p:spPr>
        <p:txBody>
          <a:bodyPr wrap="square" lIns="0" tIns="0" rIns="0" bIns="0" anchor="ctr">
            <a:noAutofit/>
          </a:bodyPr>
          <a:lstStyle/>
          <a:p>
            <a:pPr algn="ctr">
              <a:lnSpc>
                <a:spcPct val="100000"/>
              </a:lnSpc>
            </a:pPr>
            <a:r>
              <a:rPr lang="ko-KR" sz="1100" b="0">
                <a:solidFill>
                  <a:srgbClr val="FFFFFF"/>
                </a:solidFill>
                <a:latin typeface="Hanken Grotesk SemiBold"/>
                <a:ea typeface="SUIT SemiBold"/>
                <a:cs typeface="SUIT SemiBold"/>
              </a:rPr>
              <a:t>iPhone 13 Pro</a:t>
            </a:r>
          </a:p>
        </p:txBody>
      </p:sp>
      <p:pic>
        <p:nvPicPr>
          <p:cNvPr id="15" name="Strip photo 3" descr="panel_2.png"/>
          <p:cNvPicPr>
            <a:picLocks noChangeAspect="1"/>
          </p:cNvPicPr>
          <p:nvPr/>
        </p:nvPicPr>
        <p:blipFill>
          <a:blip r:embed="rId6"/>
          <a:stretch>
            <a:fillRect/>
          </a:stretch>
        </p:blipFill>
        <p:spPr>
          <a:xfrm>
            <a:off x="9414933" y="2282707"/>
            <a:ext cx="1964267" cy="2673585"/>
          </a:xfrm>
          <a:prstGeom prst="roundRect">
            <a:avLst>
              <a:gd name="adj" fmla="val 7758"/>
            </a:avLst>
          </a:prstGeom>
        </p:spPr>
      </p:pic>
      <p:sp>
        <p:nvSpPr>
          <p:cNvPr id="16" name="Phone badge 3"/>
          <p:cNvSpPr/>
          <p:nvPr/>
        </p:nvSpPr>
        <p:spPr>
          <a:xfrm>
            <a:off x="9779529" y="4600693"/>
            <a:ext cx="1235075" cy="254000"/>
          </a:xfrm>
          <a:prstGeom prst="roundRect">
            <a:avLst>
              <a:gd name="adj" fmla="val 50000"/>
            </a:avLst>
          </a:prstGeom>
          <a:solidFill>
            <a:srgbClr val="737373">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Phone badge 3 text"/>
          <p:cNvSpPr txBox="1"/>
          <p:nvPr/>
        </p:nvSpPr>
        <p:spPr>
          <a:xfrm>
            <a:off x="9779529" y="4600693"/>
            <a:ext cx="1235075" cy="254000"/>
          </a:xfrm>
          <a:prstGeom prst="rect">
            <a:avLst/>
          </a:prstGeom>
          <a:noFill/>
        </p:spPr>
        <p:txBody>
          <a:bodyPr wrap="square" lIns="0" tIns="0" rIns="0" bIns="0" anchor="ctr">
            <a:noAutofit/>
          </a:bodyPr>
          <a:lstStyle/>
          <a:p>
            <a:pPr algn="ctr">
              <a:lnSpc>
                <a:spcPct val="100000"/>
              </a:lnSpc>
            </a:pPr>
            <a:r>
              <a:rPr lang="ko-KR" sz="1100" b="0">
                <a:solidFill>
                  <a:srgbClr val="FFFFFF"/>
                </a:solidFill>
                <a:latin typeface="Hanken Grotesk SemiBold"/>
                <a:ea typeface="SUIT SemiBold"/>
                <a:cs typeface="SUIT SemiBold"/>
              </a:rPr>
              <a:t>iPhone 16 Pro</a:t>
            </a:r>
          </a:p>
        </p:txBody>
      </p:sp>
      <p:sp>
        <p:nvSpPr>
          <p:cNvPr id="18" name="Caption"/>
          <p:cNvSpPr txBox="1"/>
          <p:nvPr/>
        </p:nvSpPr>
        <p:spPr>
          <a:xfrm>
            <a:off x="5080000" y="5562600"/>
            <a:ext cx="6502400" cy="381000"/>
          </a:xfrm>
          <a:prstGeom prst="rect">
            <a:avLst/>
          </a:prstGeom>
          <a:noFill/>
        </p:spPr>
        <p:txBody>
          <a:bodyPr wrap="square" lIns="0" tIns="0" rIns="0" bIns="0" anchor="t">
            <a:noAutofit/>
          </a:bodyPr>
          <a:lstStyle/>
          <a:p>
            <a:pPr algn="l">
              <a:lnSpc>
                <a:spcPct val="133000"/>
              </a:lnSpc>
            </a:pPr>
            <a:r>
              <a:rPr lang="ko-KR" sz="1100" b="0">
                <a:solidFill>
                  <a:srgbClr val="707070"/>
                </a:solidFill>
                <a:latin typeface="Hanken Grotesk"/>
                <a:ea typeface="SUIT"/>
                <a:cs typeface="SUIT"/>
              </a:rPr>
              <a:t>pH 6 시험지를 같은 조명(L01)에서 세 기종으로 촬영. 주황: 반응부, 파랑: 배경 영역</a:t>
            </a: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1669796"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1301496"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01 연구 질문</a:t>
            </a:r>
          </a:p>
        </p:txBody>
      </p:sp>
      <p:sp>
        <p:nvSpPr>
          <p:cNvPr id="5" name="Title"/>
          <p:cNvSpPr txBox="1"/>
          <p:nvPr/>
        </p:nvSpPr>
        <p:spPr>
          <a:xfrm>
            <a:off x="609600" y="1016000"/>
            <a:ext cx="10972800" cy="508000"/>
          </a:xfrm>
          <a:prstGeom prst="rect">
            <a:avLst/>
          </a:prstGeom>
          <a:noFill/>
        </p:spPr>
        <p:txBody>
          <a:bodyPr wrap="square" lIns="0" tIns="0" rIns="0" bIns="0" anchor="t">
            <a:noAutofit/>
          </a:bodyPr>
          <a:lstStyle/>
          <a:p>
            <a:pPr algn="l">
              <a:lnSpc>
                <a:spcPct val="113000"/>
              </a:lnSpc>
            </a:pPr>
            <a:r>
              <a:rPr lang="ko-KR" sz="3200" b="0">
                <a:solidFill>
                  <a:srgbClr val="141414"/>
                </a:solidFill>
                <a:latin typeface="Hanken Grotesk SemiBold"/>
                <a:ea typeface="SUIT SemiBold"/>
                <a:cs typeface="SUIT SemiBold"/>
              </a:rPr>
              <a:t>어떤 기기 차이가 pH 판독을 흔드는가.</a:t>
            </a:r>
          </a:p>
        </p:txBody>
      </p:sp>
      <p:sp>
        <p:nvSpPr>
          <p:cNvPr id="6" name="Page number"/>
          <p:cNvSpPr txBox="1"/>
          <p:nvPr/>
        </p:nvSpPr>
        <p:spPr>
          <a:xfrm>
            <a:off x="10312400" y="6311900"/>
            <a:ext cx="1270000" cy="139700"/>
          </a:xfrm>
          <a:prstGeom prst="rect">
            <a:avLst/>
          </a:prstGeom>
          <a:noFill/>
        </p:spPr>
        <p:txBody>
          <a:bodyPr wrap="square" lIns="0" tIns="0" rIns="0" bIns="0" anchor="t">
            <a:noAutofit/>
          </a:bodyPr>
          <a:lstStyle/>
          <a:p>
            <a:pPr algn="r">
              <a:lnSpc>
                <a:spcPct val="100000"/>
              </a:lnSpc>
            </a:pPr>
            <a:r>
              <a:rPr lang="ko-KR" sz="1100" b="0">
                <a:solidFill>
                  <a:srgbClr val="ADADAD"/>
                </a:solidFill>
                <a:latin typeface="Hanken Grotesk"/>
                <a:ea typeface="SUIT"/>
                <a:cs typeface="SUIT"/>
              </a:rPr>
              <a:t>3</a:t>
            </a:r>
          </a:p>
        </p:txBody>
      </p:sp>
      <p:sp>
        <p:nvSpPr>
          <p:cNvPr id="7" name="Card 1"/>
          <p:cNvSpPr/>
          <p:nvPr/>
        </p:nvSpPr>
        <p:spPr>
          <a:xfrm>
            <a:off x="609600" y="2286000"/>
            <a:ext cx="3556000" cy="2667000"/>
          </a:xfrm>
          <a:prstGeom prst="roundRect">
            <a:avLst>
              <a:gd name="adj" fmla="val 8571"/>
            </a:avLst>
          </a:prstGeom>
          <a:solidFill>
            <a:srgbClr val="FFFFFF"/>
          </a:solidFill>
          <a:ln w="9525">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Card tag 1"/>
          <p:cNvSpPr/>
          <p:nvPr/>
        </p:nvSpPr>
        <p:spPr>
          <a:xfrm>
            <a:off x="914400" y="2590800"/>
            <a:ext cx="644652" cy="2540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Card tag 1 text"/>
          <p:cNvSpPr txBox="1"/>
          <p:nvPr/>
        </p:nvSpPr>
        <p:spPr>
          <a:xfrm>
            <a:off x="914400" y="2590800"/>
            <a:ext cx="644652" cy="254000"/>
          </a:xfrm>
          <a:prstGeom prst="rect">
            <a:avLst/>
          </a:prstGeom>
          <a:noFill/>
        </p:spPr>
        <p:txBody>
          <a:bodyPr wrap="square" lIns="0" tIns="0" rIns="0" bIns="0" anchor="ctr">
            <a:noAutofit/>
          </a:bodyPr>
          <a:lstStyle/>
          <a:p>
            <a:pPr algn="ctr">
              <a:lnSpc>
                <a:spcPct val="100000"/>
              </a:lnSpc>
            </a:pPr>
            <a:r>
              <a:rPr lang="ko-KR" sz="1100" b="0">
                <a:solidFill>
                  <a:srgbClr val="141414"/>
                </a:solidFill>
                <a:latin typeface="Hanken Grotesk SemiBold"/>
                <a:ea typeface="SUIT SemiBold"/>
                <a:cs typeface="SUIT SemiBold"/>
              </a:rPr>
              <a:t>질문 1</a:t>
            </a:r>
          </a:p>
        </p:txBody>
      </p:sp>
      <p:sp>
        <p:nvSpPr>
          <p:cNvPr id="10" name="Card title 1"/>
          <p:cNvSpPr txBox="1"/>
          <p:nvPr/>
        </p:nvSpPr>
        <p:spPr>
          <a:xfrm>
            <a:off x="914400" y="3098800"/>
            <a:ext cx="2946400" cy="381000"/>
          </a:xfrm>
          <a:prstGeom prst="rect">
            <a:avLst/>
          </a:prstGeom>
          <a:noFill/>
        </p:spPr>
        <p:txBody>
          <a:bodyPr wrap="square" lIns="0" tIns="0" rIns="0" bIns="0" anchor="t">
            <a:noAutofit/>
          </a:bodyPr>
          <a:lstStyle/>
          <a:p>
            <a:pPr algn="l">
              <a:lnSpc>
                <a:spcPct val="125000"/>
              </a:lnSpc>
            </a:pPr>
            <a:r>
              <a:rPr lang="ko-KR" sz="2200" b="0">
                <a:solidFill>
                  <a:srgbClr val="141414"/>
                </a:solidFill>
                <a:latin typeface="Hanken Grotesk SemiBold"/>
                <a:ea typeface="SUIT SemiBold"/>
                <a:cs typeface="SUIT SemiBold"/>
              </a:rPr>
              <a:t>분해</a:t>
            </a:r>
          </a:p>
        </p:txBody>
      </p:sp>
      <p:sp>
        <p:nvSpPr>
          <p:cNvPr id="11" name="Card body 1"/>
          <p:cNvSpPr txBox="1"/>
          <p:nvPr/>
        </p:nvSpPr>
        <p:spPr>
          <a:xfrm>
            <a:off x="914400" y="3556000"/>
            <a:ext cx="2946400" cy="1016000"/>
          </a:xfrm>
          <a:prstGeom prst="rect">
            <a:avLst/>
          </a:prstGeom>
          <a:noFill/>
        </p:spPr>
        <p:txBody>
          <a:bodyPr wrap="square" lIns="0" tIns="0" rIns="0" bIns="0" anchor="t">
            <a:noAutofit/>
          </a:bodyPr>
          <a:lstStyle/>
          <a:p>
            <a:pPr algn="l">
              <a:lnSpc>
                <a:spcPct val="138000"/>
              </a:lnSpc>
            </a:pPr>
            <a:r>
              <a:rPr lang="ko-KR" sz="1600" b="0">
                <a:solidFill>
                  <a:srgbClr val="707070"/>
                </a:solidFill>
                <a:latin typeface="Hanken Grotesk"/>
                <a:ea typeface="SUIT"/>
                <a:cs typeface="SUIT"/>
              </a:rPr>
              <a:t>pH·기종·조명이 색을 각각 얼마나 바꾸는가</a:t>
            </a:r>
          </a:p>
        </p:txBody>
      </p:sp>
      <p:sp>
        <p:nvSpPr>
          <p:cNvPr id="12" name="Card 2"/>
          <p:cNvSpPr/>
          <p:nvPr/>
        </p:nvSpPr>
        <p:spPr>
          <a:xfrm>
            <a:off x="4318000" y="2286000"/>
            <a:ext cx="3556000" cy="2667000"/>
          </a:xfrm>
          <a:prstGeom prst="roundRect">
            <a:avLst>
              <a:gd name="adj" fmla="val 8571"/>
            </a:avLst>
          </a:prstGeom>
          <a:solidFill>
            <a:srgbClr val="FFFFFF"/>
          </a:solidFill>
          <a:ln w="9525">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Card tag 2"/>
          <p:cNvSpPr/>
          <p:nvPr/>
        </p:nvSpPr>
        <p:spPr>
          <a:xfrm>
            <a:off x="4622800" y="2590800"/>
            <a:ext cx="644652" cy="2540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ard tag 2 text"/>
          <p:cNvSpPr txBox="1"/>
          <p:nvPr/>
        </p:nvSpPr>
        <p:spPr>
          <a:xfrm>
            <a:off x="4622800" y="2590800"/>
            <a:ext cx="644652" cy="254000"/>
          </a:xfrm>
          <a:prstGeom prst="rect">
            <a:avLst/>
          </a:prstGeom>
          <a:noFill/>
        </p:spPr>
        <p:txBody>
          <a:bodyPr wrap="square" lIns="0" tIns="0" rIns="0" bIns="0" anchor="ctr">
            <a:noAutofit/>
          </a:bodyPr>
          <a:lstStyle/>
          <a:p>
            <a:pPr algn="ctr">
              <a:lnSpc>
                <a:spcPct val="100000"/>
              </a:lnSpc>
            </a:pPr>
            <a:r>
              <a:rPr lang="ko-KR" sz="1100" b="0">
                <a:solidFill>
                  <a:srgbClr val="141414"/>
                </a:solidFill>
                <a:latin typeface="Hanken Grotesk SemiBold"/>
                <a:ea typeface="SUIT SemiBold"/>
                <a:cs typeface="SUIT SemiBold"/>
              </a:rPr>
              <a:t>질문 2</a:t>
            </a:r>
          </a:p>
        </p:txBody>
      </p:sp>
      <p:sp>
        <p:nvSpPr>
          <p:cNvPr id="15" name="Card title 2"/>
          <p:cNvSpPr txBox="1"/>
          <p:nvPr/>
        </p:nvSpPr>
        <p:spPr>
          <a:xfrm>
            <a:off x="4622800" y="3098800"/>
            <a:ext cx="2946400" cy="381000"/>
          </a:xfrm>
          <a:prstGeom prst="rect">
            <a:avLst/>
          </a:prstGeom>
          <a:noFill/>
        </p:spPr>
        <p:txBody>
          <a:bodyPr wrap="square" lIns="0" tIns="0" rIns="0" bIns="0" anchor="t">
            <a:noAutofit/>
          </a:bodyPr>
          <a:lstStyle/>
          <a:p>
            <a:pPr algn="l">
              <a:lnSpc>
                <a:spcPct val="125000"/>
              </a:lnSpc>
            </a:pPr>
            <a:r>
              <a:rPr lang="ko-KR" sz="2200" b="0">
                <a:solidFill>
                  <a:srgbClr val="141414"/>
                </a:solidFill>
                <a:latin typeface="Hanken Grotesk SemiBold"/>
                <a:ea typeface="SUIT SemiBold"/>
                <a:cs typeface="SUIT SemiBold"/>
              </a:rPr>
              <a:t>곡선</a:t>
            </a:r>
          </a:p>
        </p:txBody>
      </p:sp>
      <p:sp>
        <p:nvSpPr>
          <p:cNvPr id="16" name="Card body 2"/>
          <p:cNvSpPr txBox="1"/>
          <p:nvPr/>
        </p:nvSpPr>
        <p:spPr>
          <a:xfrm>
            <a:off x="4622800" y="3556000"/>
            <a:ext cx="2946400" cy="1016000"/>
          </a:xfrm>
          <a:prstGeom prst="rect">
            <a:avLst/>
          </a:prstGeom>
          <a:noFill/>
        </p:spPr>
        <p:txBody>
          <a:bodyPr wrap="square" lIns="0" tIns="0" rIns="0" bIns="0" anchor="t">
            <a:noAutofit/>
          </a:bodyPr>
          <a:lstStyle/>
          <a:p>
            <a:pPr algn="l">
              <a:lnSpc>
                <a:spcPct val="138000"/>
              </a:lnSpc>
            </a:pPr>
            <a:r>
              <a:rPr lang="ko-KR" sz="1600" b="0">
                <a:solidFill>
                  <a:srgbClr val="707070"/>
                </a:solidFill>
                <a:latin typeface="Hanken Grotesk"/>
                <a:ea typeface="SUIT"/>
                <a:cs typeface="SUIT"/>
              </a:rPr>
              <a:t>기종 간 차이가 pH에 따라 어떻게 달라지는가</a:t>
            </a:r>
          </a:p>
        </p:txBody>
      </p:sp>
      <p:sp>
        <p:nvSpPr>
          <p:cNvPr id="17" name="Card 3"/>
          <p:cNvSpPr/>
          <p:nvPr/>
        </p:nvSpPr>
        <p:spPr>
          <a:xfrm>
            <a:off x="8026400" y="2286000"/>
            <a:ext cx="3556000" cy="2667000"/>
          </a:xfrm>
          <a:prstGeom prst="roundRect">
            <a:avLst>
              <a:gd name="adj" fmla="val 8571"/>
            </a:avLst>
          </a:prstGeom>
          <a:solidFill>
            <a:srgbClr val="FFFFFF"/>
          </a:solidFill>
          <a:ln w="9525">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Card tag 3"/>
          <p:cNvSpPr/>
          <p:nvPr/>
        </p:nvSpPr>
        <p:spPr>
          <a:xfrm>
            <a:off x="8331200" y="2590800"/>
            <a:ext cx="644652" cy="2540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Card tag 3 text"/>
          <p:cNvSpPr txBox="1"/>
          <p:nvPr/>
        </p:nvSpPr>
        <p:spPr>
          <a:xfrm>
            <a:off x="8331200" y="2590800"/>
            <a:ext cx="644652" cy="254000"/>
          </a:xfrm>
          <a:prstGeom prst="rect">
            <a:avLst/>
          </a:prstGeom>
          <a:noFill/>
        </p:spPr>
        <p:txBody>
          <a:bodyPr wrap="square" lIns="0" tIns="0" rIns="0" bIns="0" anchor="ctr">
            <a:noAutofit/>
          </a:bodyPr>
          <a:lstStyle/>
          <a:p>
            <a:pPr algn="ctr">
              <a:lnSpc>
                <a:spcPct val="100000"/>
              </a:lnSpc>
            </a:pPr>
            <a:r>
              <a:rPr lang="ko-KR" sz="1100" b="0">
                <a:solidFill>
                  <a:srgbClr val="141414"/>
                </a:solidFill>
                <a:latin typeface="Hanken Grotesk SemiBold"/>
                <a:ea typeface="SUIT SemiBold"/>
                <a:cs typeface="SUIT SemiBold"/>
              </a:rPr>
              <a:t>질문 3</a:t>
            </a:r>
          </a:p>
        </p:txBody>
      </p:sp>
      <p:sp>
        <p:nvSpPr>
          <p:cNvPr id="20" name="Card title 3"/>
          <p:cNvSpPr txBox="1"/>
          <p:nvPr/>
        </p:nvSpPr>
        <p:spPr>
          <a:xfrm>
            <a:off x="8331200" y="3098800"/>
            <a:ext cx="2946400" cy="381000"/>
          </a:xfrm>
          <a:prstGeom prst="rect">
            <a:avLst/>
          </a:prstGeom>
          <a:noFill/>
        </p:spPr>
        <p:txBody>
          <a:bodyPr wrap="square" lIns="0" tIns="0" rIns="0" bIns="0" anchor="t">
            <a:noAutofit/>
          </a:bodyPr>
          <a:lstStyle/>
          <a:p>
            <a:pPr algn="l">
              <a:lnSpc>
                <a:spcPct val="125000"/>
              </a:lnSpc>
            </a:pPr>
            <a:r>
              <a:rPr lang="ko-KR" sz="2200" b="0">
                <a:solidFill>
                  <a:srgbClr val="141414"/>
                </a:solidFill>
                <a:latin typeface="Hanken Grotesk SemiBold"/>
                <a:ea typeface="SUIT SemiBold"/>
                <a:cs typeface="SUIT SemiBold"/>
              </a:rPr>
              <a:t>보정</a:t>
            </a:r>
          </a:p>
        </p:txBody>
      </p:sp>
      <p:sp>
        <p:nvSpPr>
          <p:cNvPr id="21" name="Card body 3"/>
          <p:cNvSpPr txBox="1"/>
          <p:nvPr/>
        </p:nvSpPr>
        <p:spPr>
          <a:xfrm>
            <a:off x="8331200" y="3556000"/>
            <a:ext cx="2946400" cy="1016000"/>
          </a:xfrm>
          <a:prstGeom prst="rect">
            <a:avLst/>
          </a:prstGeom>
          <a:noFill/>
        </p:spPr>
        <p:txBody>
          <a:bodyPr wrap="square" lIns="0" tIns="0" rIns="0" bIns="0" anchor="t">
            <a:noAutofit/>
          </a:bodyPr>
          <a:lstStyle/>
          <a:p>
            <a:pPr algn="l">
              <a:lnSpc>
                <a:spcPct val="138000"/>
              </a:lnSpc>
            </a:pPr>
            <a:r>
              <a:rPr lang="ko-KR" sz="1600" b="0">
                <a:solidFill>
                  <a:srgbClr val="707070"/>
                </a:solidFill>
                <a:latin typeface="Hanken Grotesk"/>
                <a:ea typeface="SUIT"/>
                <a:cs typeface="SUIT"/>
              </a:rPr>
              <a:t>새 휴대폰에는 보정이 얼마나 필요한가</a:t>
            </a:r>
          </a:p>
        </p:txBody>
      </p:sp>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1388872"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1020572"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02 데이터</a:t>
            </a:r>
          </a:p>
        </p:txBody>
      </p:sp>
      <p:sp>
        <p:nvSpPr>
          <p:cNvPr id="5" name="Title"/>
          <p:cNvSpPr txBox="1"/>
          <p:nvPr/>
        </p:nvSpPr>
        <p:spPr>
          <a:xfrm>
            <a:off x="609600" y="1016000"/>
            <a:ext cx="10972800" cy="508000"/>
          </a:xfrm>
          <a:prstGeom prst="rect">
            <a:avLst/>
          </a:prstGeom>
          <a:noFill/>
        </p:spPr>
        <p:txBody>
          <a:bodyPr wrap="square" lIns="0" tIns="0" rIns="0" bIns="0" anchor="t">
            <a:noAutofit/>
          </a:bodyPr>
          <a:lstStyle/>
          <a:p>
            <a:pPr algn="l">
              <a:lnSpc>
                <a:spcPct val="113000"/>
              </a:lnSpc>
            </a:pPr>
            <a:r>
              <a:rPr lang="ko-KR" sz="3200" b="0" dirty="0">
                <a:solidFill>
                  <a:srgbClr val="141414"/>
                </a:solidFill>
                <a:latin typeface="Hanken Grotesk SemiBold"/>
                <a:ea typeface="SUIT SemiBold"/>
                <a:cs typeface="SUIT SemiBold"/>
              </a:rPr>
              <a:t>사진은 195장, 독립 표본은 39개.</a:t>
            </a:r>
          </a:p>
        </p:txBody>
      </p:sp>
      <p:sp>
        <p:nvSpPr>
          <p:cNvPr id="6" name="Page number"/>
          <p:cNvSpPr txBox="1"/>
          <p:nvPr/>
        </p:nvSpPr>
        <p:spPr>
          <a:xfrm>
            <a:off x="10312400" y="6311900"/>
            <a:ext cx="1270000" cy="139700"/>
          </a:xfrm>
          <a:prstGeom prst="rect">
            <a:avLst/>
          </a:prstGeom>
          <a:noFill/>
        </p:spPr>
        <p:txBody>
          <a:bodyPr wrap="square" lIns="0" tIns="0" rIns="0" bIns="0" anchor="t">
            <a:noAutofit/>
          </a:bodyPr>
          <a:lstStyle/>
          <a:p>
            <a:pPr algn="r">
              <a:lnSpc>
                <a:spcPct val="100000"/>
              </a:lnSpc>
            </a:pPr>
            <a:r>
              <a:rPr lang="ko-KR" sz="1100" b="0">
                <a:solidFill>
                  <a:srgbClr val="ADADAD"/>
                </a:solidFill>
                <a:latin typeface="Hanken Grotesk"/>
                <a:ea typeface="SUIT"/>
                <a:cs typeface="SUIT"/>
              </a:rPr>
              <a:t>4</a:t>
            </a:r>
          </a:p>
        </p:txBody>
      </p:sp>
      <p:sp>
        <p:nvSpPr>
          <p:cNvPr id="7" name="Stat value 1"/>
          <p:cNvSpPr txBox="1"/>
          <p:nvPr/>
        </p:nvSpPr>
        <p:spPr>
          <a:xfrm>
            <a:off x="609600" y="2032000"/>
            <a:ext cx="3505200" cy="1143000"/>
          </a:xfrm>
          <a:prstGeom prst="rect">
            <a:avLst/>
          </a:prstGeom>
          <a:noFill/>
        </p:spPr>
        <p:txBody>
          <a:bodyPr wrap="square" lIns="0" tIns="0" rIns="0" bIns="0" anchor="b">
            <a:noAutofit/>
          </a:bodyPr>
          <a:lstStyle/>
          <a:p>
            <a:pPr algn="ctr">
              <a:lnSpc>
                <a:spcPct val="100000"/>
              </a:lnSpc>
            </a:pPr>
            <a:r>
              <a:rPr lang="ko-KR" sz="6400" b="0">
                <a:solidFill>
                  <a:srgbClr val="141414"/>
                </a:solidFill>
                <a:latin typeface="Hanken Grotesk SemiBold"/>
                <a:ea typeface="SUIT SemiBold"/>
                <a:cs typeface="SUIT SemiBold"/>
              </a:rPr>
              <a:t>3×13×5.</a:t>
            </a:r>
          </a:p>
        </p:txBody>
      </p:sp>
      <p:sp>
        <p:nvSpPr>
          <p:cNvPr id="8" name="Stat caption 1"/>
          <p:cNvSpPr txBox="1"/>
          <p:nvPr/>
        </p:nvSpPr>
        <p:spPr>
          <a:xfrm>
            <a:off x="609600" y="3276600"/>
            <a:ext cx="3505200" cy="317500"/>
          </a:xfrm>
          <a:prstGeom prst="rect">
            <a:avLst/>
          </a:prstGeom>
          <a:noFill/>
        </p:spPr>
        <p:txBody>
          <a:bodyPr wrap="square" lIns="0" tIns="0" rIns="0" bIns="0" anchor="t">
            <a:noAutofit/>
          </a:bodyPr>
          <a:lstStyle/>
          <a:p>
            <a:pPr algn="ctr">
              <a:lnSpc>
                <a:spcPct val="138000"/>
              </a:lnSpc>
            </a:pPr>
            <a:r>
              <a:rPr lang="ko-KR" sz="1800" b="0">
                <a:solidFill>
                  <a:srgbClr val="707070"/>
                </a:solidFill>
                <a:latin typeface="Hanken Grotesk Light"/>
                <a:ea typeface="SUIT Light"/>
                <a:cs typeface="SUIT Light"/>
              </a:rPr>
              <a:t>기종 × pH × 조명</a:t>
            </a:r>
          </a:p>
        </p:txBody>
      </p:sp>
      <p:sp>
        <p:nvSpPr>
          <p:cNvPr id="9" name="Stat value 2"/>
          <p:cNvSpPr txBox="1"/>
          <p:nvPr/>
        </p:nvSpPr>
        <p:spPr>
          <a:xfrm>
            <a:off x="4267200" y="2032000"/>
            <a:ext cx="3505200" cy="1143000"/>
          </a:xfrm>
          <a:prstGeom prst="rect">
            <a:avLst/>
          </a:prstGeom>
          <a:noFill/>
        </p:spPr>
        <p:txBody>
          <a:bodyPr wrap="square" lIns="0" tIns="0" rIns="0" bIns="0" anchor="b">
            <a:noAutofit/>
          </a:bodyPr>
          <a:lstStyle/>
          <a:p>
            <a:pPr algn="ctr">
              <a:lnSpc>
                <a:spcPct val="100000"/>
              </a:lnSpc>
            </a:pPr>
            <a:r>
              <a:rPr lang="ko-KR" sz="6400" b="0">
                <a:solidFill>
                  <a:srgbClr val="0066FF"/>
                </a:solidFill>
                <a:latin typeface="Hanken Grotesk SemiBold"/>
                <a:ea typeface="SUIT SemiBold"/>
                <a:cs typeface="SUIT SemiBold"/>
              </a:rPr>
              <a:t>39.</a:t>
            </a:r>
          </a:p>
        </p:txBody>
      </p:sp>
      <p:sp>
        <p:nvSpPr>
          <p:cNvPr id="10" name="Stat caption 2"/>
          <p:cNvSpPr txBox="1"/>
          <p:nvPr/>
        </p:nvSpPr>
        <p:spPr>
          <a:xfrm>
            <a:off x="4267200" y="3276600"/>
            <a:ext cx="3505200" cy="317500"/>
          </a:xfrm>
          <a:prstGeom prst="rect">
            <a:avLst/>
          </a:prstGeom>
          <a:noFill/>
        </p:spPr>
        <p:txBody>
          <a:bodyPr wrap="square" lIns="0" tIns="0" rIns="0" bIns="0" anchor="t">
            <a:noAutofit/>
          </a:bodyPr>
          <a:lstStyle/>
          <a:p>
            <a:pPr algn="ctr">
              <a:lnSpc>
                <a:spcPct val="138000"/>
              </a:lnSpc>
            </a:pPr>
            <a:r>
              <a:rPr lang="ko-KR" sz="1800" b="0">
                <a:solidFill>
                  <a:srgbClr val="707070"/>
                </a:solidFill>
                <a:latin typeface="Hanken Grotesk Light"/>
                <a:ea typeface="SUIT Light"/>
                <a:cs typeface="SUIT Light"/>
              </a:rPr>
              <a:t>실제 시험지 수 = 실험 단위</a:t>
            </a:r>
          </a:p>
        </p:txBody>
      </p:sp>
      <p:sp>
        <p:nvSpPr>
          <p:cNvPr id="11" name="Stat value 3"/>
          <p:cNvSpPr txBox="1"/>
          <p:nvPr/>
        </p:nvSpPr>
        <p:spPr>
          <a:xfrm>
            <a:off x="7924800" y="2032000"/>
            <a:ext cx="3505200" cy="1143000"/>
          </a:xfrm>
          <a:prstGeom prst="rect">
            <a:avLst/>
          </a:prstGeom>
          <a:noFill/>
        </p:spPr>
        <p:txBody>
          <a:bodyPr wrap="square" lIns="0" tIns="0" rIns="0" bIns="0" anchor="b">
            <a:noAutofit/>
          </a:bodyPr>
          <a:lstStyle/>
          <a:p>
            <a:pPr algn="ctr">
              <a:lnSpc>
                <a:spcPct val="100000"/>
              </a:lnSpc>
            </a:pPr>
            <a:r>
              <a:rPr lang="ko-KR" sz="6400" b="0">
                <a:solidFill>
                  <a:srgbClr val="141414"/>
                </a:solidFill>
                <a:latin typeface="Hanken Grotesk SemiBold"/>
                <a:ea typeface="SUIT SemiBold"/>
                <a:cs typeface="SUIT SemiBold"/>
              </a:rPr>
              <a:t>195.</a:t>
            </a:r>
          </a:p>
        </p:txBody>
      </p:sp>
      <p:sp>
        <p:nvSpPr>
          <p:cNvPr id="12" name="Stat caption 3"/>
          <p:cNvSpPr txBox="1"/>
          <p:nvPr/>
        </p:nvSpPr>
        <p:spPr>
          <a:xfrm>
            <a:off x="7924800" y="3276600"/>
            <a:ext cx="3505200" cy="317500"/>
          </a:xfrm>
          <a:prstGeom prst="rect">
            <a:avLst/>
          </a:prstGeom>
          <a:noFill/>
        </p:spPr>
        <p:txBody>
          <a:bodyPr wrap="square" lIns="0" tIns="0" rIns="0" bIns="0" anchor="t">
            <a:noAutofit/>
          </a:bodyPr>
          <a:lstStyle/>
          <a:p>
            <a:pPr algn="ctr">
              <a:lnSpc>
                <a:spcPct val="138000"/>
              </a:lnSpc>
            </a:pPr>
            <a:r>
              <a:rPr lang="ko-KR" sz="1800" b="0">
                <a:solidFill>
                  <a:srgbClr val="707070"/>
                </a:solidFill>
                <a:latin typeface="Hanken Grotesk Light"/>
                <a:ea typeface="SUIT Light"/>
                <a:cs typeface="SUIT Light"/>
              </a:rPr>
              <a:t>촬영 이미지 수</a:t>
            </a:r>
          </a:p>
        </p:txBody>
      </p:sp>
      <p:sp>
        <p:nvSpPr>
          <p:cNvPr id="13" name="Formula bar"/>
          <p:cNvSpPr/>
          <p:nvPr/>
        </p:nvSpPr>
        <p:spPr>
          <a:xfrm>
            <a:off x="609600" y="4318000"/>
            <a:ext cx="10972800" cy="1066800"/>
          </a:xfrm>
          <a:prstGeom prst="roundRect">
            <a:avLst>
              <a:gd name="adj" fmla="val 14285"/>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Formula"/>
          <p:cNvSpPr txBox="1"/>
          <p:nvPr/>
        </p:nvSpPr>
        <p:spPr>
          <a:xfrm>
            <a:off x="914400" y="4521200"/>
            <a:ext cx="10363200" cy="317500"/>
          </a:xfrm>
          <a:prstGeom prst="rect">
            <a:avLst/>
          </a:prstGeom>
          <a:noFill/>
        </p:spPr>
        <p:txBody>
          <a:bodyPr wrap="square" lIns="0" tIns="0" rIns="0" bIns="0" anchor="t">
            <a:noAutofit/>
          </a:bodyPr>
          <a:lstStyle/>
          <a:p>
            <a:pPr algn="l">
              <a:lnSpc>
                <a:spcPct val="130000"/>
              </a:lnSpc>
            </a:pPr>
            <a:r>
              <a:rPr lang="ko-KR" sz="1800" b="0" dirty="0" err="1">
                <a:solidFill>
                  <a:srgbClr val="141414"/>
                </a:solidFill>
                <a:latin typeface="Hanken Grotesk SemiBold"/>
                <a:ea typeface="SUIT SemiBold"/>
                <a:cs typeface="SUIT SemiBold"/>
              </a:rPr>
              <a:t>Contrast</a:t>
            </a:r>
            <a:r>
              <a:rPr lang="ko-KR" sz="1800" b="0" dirty="0">
                <a:solidFill>
                  <a:srgbClr val="141414"/>
                </a:solidFill>
                <a:latin typeface="Hanken Grotesk SemiBold"/>
                <a:ea typeface="SUIT SemiBold"/>
                <a:cs typeface="SUIT SemiBold"/>
              </a:rPr>
              <a:t> = </a:t>
            </a:r>
            <a:r>
              <a:rPr lang="ko-KR" sz="1800" b="0" dirty="0" err="1">
                <a:solidFill>
                  <a:srgbClr val="141414"/>
                </a:solidFill>
                <a:latin typeface="Hanken Grotesk SemiBold"/>
                <a:ea typeface="SUIT SemiBold"/>
                <a:cs typeface="SUIT SemiBold"/>
              </a:rPr>
              <a:t>반응부</a:t>
            </a:r>
            <a:r>
              <a:rPr lang="ko-KR" sz="1800" b="0" dirty="0">
                <a:solidFill>
                  <a:srgbClr val="141414"/>
                </a:solidFill>
                <a:latin typeface="Hanken Grotesk SemiBold"/>
                <a:ea typeface="SUIT SemiBold"/>
                <a:cs typeface="SUIT SemiBold"/>
              </a:rPr>
              <a:t>(</a:t>
            </a:r>
            <a:r>
              <a:rPr lang="ko-KR" sz="1800" b="0" dirty="0" err="1">
                <a:solidFill>
                  <a:srgbClr val="141414"/>
                </a:solidFill>
                <a:latin typeface="Hanken Grotesk SemiBold"/>
                <a:ea typeface="SUIT SemiBold"/>
                <a:cs typeface="SUIT SemiBold"/>
              </a:rPr>
              <a:t>Pad</a:t>
            </a:r>
            <a:r>
              <a:rPr lang="ko-KR" sz="1800" b="0" dirty="0">
                <a:solidFill>
                  <a:srgbClr val="141414"/>
                </a:solidFill>
                <a:latin typeface="Hanken Grotesk SemiBold"/>
                <a:ea typeface="SUIT SemiBold"/>
                <a:cs typeface="SUIT SemiBold"/>
              </a:rPr>
              <a:t>) − 흰 배경(</a:t>
            </a:r>
            <a:r>
              <a:rPr lang="ko-KR" sz="1800" b="0" dirty="0" err="1">
                <a:solidFill>
                  <a:srgbClr val="141414"/>
                </a:solidFill>
                <a:latin typeface="Hanken Grotesk SemiBold"/>
                <a:ea typeface="SUIT SemiBold"/>
                <a:cs typeface="SUIT SemiBold"/>
              </a:rPr>
              <a:t>Background</a:t>
            </a:r>
            <a:r>
              <a:rPr lang="ko-KR" sz="1800" b="0" dirty="0">
                <a:solidFill>
                  <a:srgbClr val="141414"/>
                </a:solidFill>
                <a:latin typeface="Hanken Grotesk SemiBold"/>
                <a:ea typeface="SUIT SemiBold"/>
                <a:cs typeface="SUIT SemiBold"/>
              </a:rPr>
              <a:t>), CIELAB </a:t>
            </a:r>
            <a:r>
              <a:rPr lang="ko-KR" sz="1800" b="0" dirty="0" err="1">
                <a:solidFill>
                  <a:srgbClr val="141414"/>
                </a:solidFill>
                <a:latin typeface="Hanken Grotesk SemiBold"/>
                <a:ea typeface="SUIT SemiBold"/>
                <a:cs typeface="SUIT SemiBold"/>
              </a:rPr>
              <a:t>L</a:t>
            </a:r>
            <a:r>
              <a:rPr lang="ko-KR" sz="1800" b="0" dirty="0">
                <a:solidFill>
                  <a:srgbClr val="141414"/>
                </a:solidFill>
                <a:latin typeface="Hanken Grotesk SemiBold"/>
                <a:ea typeface="SUIT SemiBold"/>
                <a:cs typeface="SUIT SemiBold"/>
              </a:rPr>
              <a:t>*·</a:t>
            </a:r>
            <a:r>
              <a:rPr lang="ko-KR" sz="1800" b="0" dirty="0" err="1">
                <a:solidFill>
                  <a:srgbClr val="141414"/>
                </a:solidFill>
                <a:latin typeface="Hanken Grotesk SemiBold"/>
                <a:ea typeface="SUIT SemiBold"/>
                <a:cs typeface="SUIT SemiBold"/>
              </a:rPr>
              <a:t>a</a:t>
            </a:r>
            <a:r>
              <a:rPr lang="ko-KR" sz="1800" b="0" dirty="0">
                <a:solidFill>
                  <a:srgbClr val="141414"/>
                </a:solidFill>
                <a:latin typeface="Hanken Grotesk SemiBold"/>
                <a:ea typeface="SUIT SemiBold"/>
                <a:cs typeface="SUIT SemiBold"/>
              </a:rPr>
              <a:t>*·</a:t>
            </a:r>
            <a:r>
              <a:rPr lang="ko-KR" sz="1800" b="0" dirty="0" err="1">
                <a:solidFill>
                  <a:srgbClr val="141414"/>
                </a:solidFill>
                <a:latin typeface="Hanken Grotesk SemiBold"/>
                <a:ea typeface="SUIT SemiBold"/>
                <a:cs typeface="SUIT SemiBold"/>
              </a:rPr>
              <a:t>b</a:t>
            </a:r>
            <a:r>
              <a:rPr lang="ko-KR" sz="1800" b="0" dirty="0">
                <a:solidFill>
                  <a:srgbClr val="141414"/>
                </a:solidFill>
                <a:latin typeface="Hanken Grotesk SemiBold"/>
                <a:ea typeface="SUIT SemiBold"/>
                <a:cs typeface="SUIT SemiBold"/>
              </a:rPr>
              <a:t>*</a:t>
            </a:r>
          </a:p>
        </p:txBody>
      </p:sp>
      <p:sp>
        <p:nvSpPr>
          <p:cNvPr id="15" name="Phones"/>
          <p:cNvSpPr txBox="1"/>
          <p:nvPr/>
        </p:nvSpPr>
        <p:spPr>
          <a:xfrm>
            <a:off x="914400" y="4902200"/>
            <a:ext cx="10363200" cy="254000"/>
          </a:xfrm>
          <a:prstGeom prst="rect">
            <a:avLst/>
          </a:prstGeom>
          <a:noFill/>
        </p:spPr>
        <p:txBody>
          <a:bodyPr wrap="square" lIns="0" tIns="0" rIns="0" bIns="0" anchor="t">
            <a:noAutofit/>
          </a:bodyPr>
          <a:lstStyle/>
          <a:p>
            <a:pPr algn="l">
              <a:lnSpc>
                <a:spcPct val="138000"/>
              </a:lnSpc>
            </a:pPr>
            <a:r>
              <a:rPr lang="ko-KR" sz="1400" b="0" dirty="0" err="1">
                <a:solidFill>
                  <a:srgbClr val="707070"/>
                </a:solidFill>
                <a:latin typeface="Hanken Grotesk"/>
                <a:ea typeface="SUIT"/>
                <a:cs typeface="SUIT"/>
              </a:rPr>
              <a:t>Galaxy</a:t>
            </a:r>
            <a:r>
              <a:rPr lang="ko-KR" sz="1400" b="0" dirty="0">
                <a:solidFill>
                  <a:srgbClr val="707070"/>
                </a:solidFill>
                <a:latin typeface="Hanken Grotesk"/>
                <a:ea typeface="SUIT"/>
                <a:cs typeface="SUIT"/>
              </a:rPr>
              <a:t> S24+ · </a:t>
            </a:r>
            <a:r>
              <a:rPr lang="ko-KR" sz="1400" b="0" dirty="0" err="1">
                <a:solidFill>
                  <a:srgbClr val="707070"/>
                </a:solidFill>
                <a:latin typeface="Hanken Grotesk"/>
                <a:ea typeface="SUIT"/>
                <a:cs typeface="SUIT"/>
              </a:rPr>
              <a:t>iPhone</a:t>
            </a:r>
            <a:r>
              <a:rPr lang="ko-KR" sz="1400" b="0" dirty="0">
                <a:solidFill>
                  <a:srgbClr val="707070"/>
                </a:solidFill>
                <a:latin typeface="Hanken Grotesk"/>
                <a:ea typeface="SUIT"/>
                <a:cs typeface="SUIT"/>
              </a:rPr>
              <a:t> 13 </a:t>
            </a:r>
            <a:r>
              <a:rPr lang="ko-KR" sz="1400" b="0" dirty="0" err="1">
                <a:solidFill>
                  <a:srgbClr val="707070"/>
                </a:solidFill>
                <a:latin typeface="Hanken Grotesk"/>
                <a:ea typeface="SUIT"/>
                <a:cs typeface="SUIT"/>
              </a:rPr>
              <a:t>Pro</a:t>
            </a:r>
            <a:r>
              <a:rPr lang="ko-KR" sz="1400" b="0" dirty="0">
                <a:solidFill>
                  <a:srgbClr val="707070"/>
                </a:solidFill>
                <a:latin typeface="Hanken Grotesk"/>
                <a:ea typeface="SUIT"/>
                <a:cs typeface="SUIT"/>
              </a:rPr>
              <a:t> · </a:t>
            </a:r>
            <a:r>
              <a:rPr lang="ko-KR" sz="1400" b="0" dirty="0" err="1">
                <a:solidFill>
                  <a:srgbClr val="707070"/>
                </a:solidFill>
                <a:latin typeface="Hanken Grotesk"/>
                <a:ea typeface="SUIT"/>
                <a:cs typeface="SUIT"/>
              </a:rPr>
              <a:t>iPhone</a:t>
            </a:r>
            <a:r>
              <a:rPr lang="ko-KR" sz="1400" b="0" dirty="0">
                <a:solidFill>
                  <a:srgbClr val="707070"/>
                </a:solidFill>
                <a:latin typeface="Hanken Grotesk"/>
                <a:ea typeface="SUIT"/>
                <a:cs typeface="SUIT"/>
              </a:rPr>
              <a:t> 16 </a:t>
            </a:r>
            <a:r>
              <a:rPr lang="ko-KR" sz="1400" b="0" dirty="0" err="1">
                <a:solidFill>
                  <a:srgbClr val="707070"/>
                </a:solidFill>
                <a:latin typeface="Hanken Grotesk"/>
                <a:ea typeface="SUIT"/>
                <a:cs typeface="SUIT"/>
              </a:rPr>
              <a:t>Pro</a:t>
            </a:r>
            <a:endParaRPr lang="ko-KR" sz="1400" b="0" dirty="0">
              <a:solidFill>
                <a:srgbClr val="707070"/>
              </a:solidFill>
              <a:latin typeface="Hanken Grotesk"/>
              <a:ea typeface="SUIT"/>
              <a:cs typeface="SUIT"/>
            </a:endParaRPr>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1669796"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1301496"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03 분석 방법</a:t>
            </a:r>
          </a:p>
        </p:txBody>
      </p:sp>
      <p:sp>
        <p:nvSpPr>
          <p:cNvPr id="5" name="Title"/>
          <p:cNvSpPr txBox="1"/>
          <p:nvPr/>
        </p:nvSpPr>
        <p:spPr>
          <a:xfrm>
            <a:off x="609600" y="1016000"/>
            <a:ext cx="10972800" cy="508000"/>
          </a:xfrm>
          <a:prstGeom prst="rect">
            <a:avLst/>
          </a:prstGeom>
          <a:noFill/>
        </p:spPr>
        <p:txBody>
          <a:bodyPr wrap="square" lIns="0" tIns="0" rIns="0" bIns="0" anchor="t">
            <a:noAutofit/>
          </a:bodyPr>
          <a:lstStyle/>
          <a:p>
            <a:pPr algn="l">
              <a:lnSpc>
                <a:spcPct val="113000"/>
              </a:lnSpc>
            </a:pPr>
            <a:r>
              <a:rPr lang="ko-KR" sz="3200" b="0">
                <a:solidFill>
                  <a:srgbClr val="141414"/>
                </a:solidFill>
                <a:latin typeface="Hanken Grotesk SemiBold"/>
                <a:ea typeface="SUIT SemiBold"/>
                <a:cs typeface="SUIT SemiBold"/>
              </a:rPr>
              <a:t>나누고 곡선을 그리고 pH 단위로 바꾼다.</a:t>
            </a:r>
          </a:p>
        </p:txBody>
      </p:sp>
      <p:sp>
        <p:nvSpPr>
          <p:cNvPr id="6" name="Page number"/>
          <p:cNvSpPr txBox="1"/>
          <p:nvPr/>
        </p:nvSpPr>
        <p:spPr>
          <a:xfrm>
            <a:off x="10312400" y="6311900"/>
            <a:ext cx="1270000" cy="139700"/>
          </a:xfrm>
          <a:prstGeom prst="rect">
            <a:avLst/>
          </a:prstGeom>
          <a:noFill/>
        </p:spPr>
        <p:txBody>
          <a:bodyPr wrap="square" lIns="0" tIns="0" rIns="0" bIns="0" anchor="t">
            <a:noAutofit/>
          </a:bodyPr>
          <a:lstStyle/>
          <a:p>
            <a:pPr algn="r">
              <a:lnSpc>
                <a:spcPct val="100000"/>
              </a:lnSpc>
            </a:pPr>
            <a:r>
              <a:rPr lang="ko-KR" sz="1100" b="0">
                <a:solidFill>
                  <a:srgbClr val="ADADAD"/>
                </a:solidFill>
                <a:latin typeface="Hanken Grotesk"/>
                <a:ea typeface="SUIT"/>
                <a:cs typeface="SUIT"/>
              </a:rPr>
              <a:t>5</a:t>
            </a:r>
          </a:p>
        </p:txBody>
      </p:sp>
      <p:sp>
        <p:nvSpPr>
          <p:cNvPr id="7" name="Step card 1"/>
          <p:cNvSpPr/>
          <p:nvPr/>
        </p:nvSpPr>
        <p:spPr>
          <a:xfrm>
            <a:off x="609600" y="2794000"/>
            <a:ext cx="2628900" cy="2413000"/>
          </a:xfrm>
          <a:prstGeom prst="roundRect">
            <a:avLst>
              <a:gd name="adj" fmla="val 9473"/>
            </a:avLst>
          </a:prstGeom>
          <a:solidFill>
            <a:srgbClr val="FFFFFF"/>
          </a:solidFill>
          <a:ln w="9525">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tep tag 1"/>
          <p:cNvSpPr/>
          <p:nvPr/>
        </p:nvSpPr>
        <p:spPr>
          <a:xfrm>
            <a:off x="863600" y="3048000"/>
            <a:ext cx="644652" cy="254000"/>
          </a:xfrm>
          <a:prstGeom prst="roundRect">
            <a:avLst>
              <a:gd name="adj" fmla="val 5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tep tag 1 text"/>
          <p:cNvSpPr txBox="1"/>
          <p:nvPr/>
        </p:nvSpPr>
        <p:spPr>
          <a:xfrm>
            <a:off x="863600" y="3048000"/>
            <a:ext cx="644652" cy="254000"/>
          </a:xfrm>
          <a:prstGeom prst="rect">
            <a:avLst/>
          </a:prstGeom>
          <a:noFill/>
        </p:spPr>
        <p:txBody>
          <a:bodyPr wrap="square" lIns="0" tIns="0" rIns="0" bIns="0" anchor="ctr">
            <a:noAutofit/>
          </a:bodyPr>
          <a:lstStyle/>
          <a:p>
            <a:pPr algn="ctr">
              <a:lnSpc>
                <a:spcPct val="100000"/>
              </a:lnSpc>
            </a:pPr>
            <a:r>
              <a:rPr lang="ko-KR" sz="1100" b="0">
                <a:solidFill>
                  <a:srgbClr val="141414"/>
                </a:solidFill>
                <a:latin typeface="Hanken Grotesk SemiBold"/>
                <a:ea typeface="SUIT SemiBold"/>
                <a:cs typeface="SUIT SemiBold"/>
              </a:rPr>
              <a:t>단계 1</a:t>
            </a:r>
          </a:p>
        </p:txBody>
      </p:sp>
      <p:sp>
        <p:nvSpPr>
          <p:cNvPr id="10" name="Step title 1"/>
          <p:cNvSpPr txBox="1"/>
          <p:nvPr/>
        </p:nvSpPr>
        <p:spPr>
          <a:xfrm>
            <a:off x="863600" y="3505200"/>
            <a:ext cx="2120900" cy="381000"/>
          </a:xfrm>
          <a:prstGeom prst="rect">
            <a:avLst/>
          </a:prstGeom>
          <a:noFill/>
        </p:spPr>
        <p:txBody>
          <a:bodyPr wrap="square" lIns="0" tIns="0" rIns="0" bIns="0" anchor="t">
            <a:noAutofit/>
          </a:bodyPr>
          <a:lstStyle/>
          <a:p>
            <a:pPr algn="l">
              <a:lnSpc>
                <a:spcPct val="125000"/>
              </a:lnSpc>
            </a:pPr>
            <a:r>
              <a:rPr lang="ko-KR" sz="2200" b="0">
                <a:solidFill>
                  <a:srgbClr val="141414"/>
                </a:solidFill>
                <a:latin typeface="Hanken Grotesk SemiBold"/>
                <a:ea typeface="SUIT SemiBold"/>
                <a:cs typeface="SUIT SemiBold"/>
              </a:rPr>
              <a:t>ASCA</a:t>
            </a:r>
          </a:p>
        </p:txBody>
      </p:sp>
      <p:sp>
        <p:nvSpPr>
          <p:cNvPr id="11" name="Step body 1"/>
          <p:cNvSpPr txBox="1"/>
          <p:nvPr/>
        </p:nvSpPr>
        <p:spPr>
          <a:xfrm>
            <a:off x="863600" y="3962400"/>
            <a:ext cx="2120900" cy="1016000"/>
          </a:xfrm>
          <a:prstGeom prst="rect">
            <a:avLst/>
          </a:prstGeom>
          <a:noFill/>
        </p:spPr>
        <p:txBody>
          <a:bodyPr wrap="square" lIns="0" tIns="0" rIns="0" bIns="0" anchor="t">
            <a:noAutofit/>
          </a:bodyPr>
          <a:lstStyle/>
          <a:p>
            <a:pPr algn="l">
              <a:lnSpc>
                <a:spcPct val="143000"/>
              </a:lnSpc>
            </a:pPr>
            <a:r>
              <a:rPr lang="ko-KR" sz="1400" b="0" dirty="0">
                <a:solidFill>
                  <a:srgbClr val="707070"/>
                </a:solidFill>
                <a:latin typeface="Hanken Grotesk"/>
                <a:ea typeface="SUIT"/>
                <a:cs typeface="SUIT"/>
              </a:rPr>
              <a:t>색 변동을 </a:t>
            </a:r>
            <a:r>
              <a:rPr lang="ko-KR" sz="1400" b="0" dirty="0" err="1">
                <a:solidFill>
                  <a:srgbClr val="707070"/>
                </a:solidFill>
                <a:latin typeface="Hanken Grotesk"/>
                <a:ea typeface="SUIT"/>
                <a:cs typeface="SUIT"/>
              </a:rPr>
              <a:t>pH·기종·조명·상호작용으로</a:t>
            </a:r>
            <a:r>
              <a:rPr lang="ko-KR" sz="1400" b="0" dirty="0">
                <a:solidFill>
                  <a:srgbClr val="707070"/>
                </a:solidFill>
                <a:latin typeface="Hanken Grotesk"/>
                <a:ea typeface="SUIT"/>
                <a:cs typeface="SUIT"/>
              </a:rPr>
              <a:t> 분해. 시험지 단위 순열검정</a:t>
            </a:r>
          </a:p>
        </p:txBody>
      </p:sp>
      <p:sp>
        <p:nvSpPr>
          <p:cNvPr id="12" name="Step card 2"/>
          <p:cNvSpPr/>
          <p:nvPr/>
        </p:nvSpPr>
        <p:spPr>
          <a:xfrm>
            <a:off x="3390900" y="2540000"/>
            <a:ext cx="2628900" cy="2667000"/>
          </a:xfrm>
          <a:prstGeom prst="roundRect">
            <a:avLst>
              <a:gd name="adj" fmla="val 8695"/>
            </a:avLst>
          </a:prstGeom>
          <a:solidFill>
            <a:srgbClr val="FFFFFF"/>
          </a:solidFill>
          <a:ln w="9525">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tep tag 2"/>
          <p:cNvSpPr/>
          <p:nvPr/>
        </p:nvSpPr>
        <p:spPr>
          <a:xfrm>
            <a:off x="3644900" y="2794000"/>
            <a:ext cx="644652" cy="254000"/>
          </a:xfrm>
          <a:prstGeom prst="roundRect">
            <a:avLst>
              <a:gd name="adj" fmla="val 5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tep tag 2 text"/>
          <p:cNvSpPr txBox="1"/>
          <p:nvPr/>
        </p:nvSpPr>
        <p:spPr>
          <a:xfrm>
            <a:off x="3644900" y="2794000"/>
            <a:ext cx="644652" cy="254000"/>
          </a:xfrm>
          <a:prstGeom prst="rect">
            <a:avLst/>
          </a:prstGeom>
          <a:noFill/>
        </p:spPr>
        <p:txBody>
          <a:bodyPr wrap="square" lIns="0" tIns="0" rIns="0" bIns="0" anchor="ctr">
            <a:noAutofit/>
          </a:bodyPr>
          <a:lstStyle/>
          <a:p>
            <a:pPr algn="ctr">
              <a:lnSpc>
                <a:spcPct val="100000"/>
              </a:lnSpc>
            </a:pPr>
            <a:r>
              <a:rPr lang="ko-KR" sz="1100" b="0">
                <a:solidFill>
                  <a:srgbClr val="141414"/>
                </a:solidFill>
                <a:latin typeface="Hanken Grotesk SemiBold"/>
                <a:ea typeface="SUIT SemiBold"/>
                <a:cs typeface="SUIT SemiBold"/>
              </a:rPr>
              <a:t>단계 2</a:t>
            </a:r>
          </a:p>
        </p:txBody>
      </p:sp>
      <p:sp>
        <p:nvSpPr>
          <p:cNvPr id="15" name="Step title 2"/>
          <p:cNvSpPr txBox="1"/>
          <p:nvPr/>
        </p:nvSpPr>
        <p:spPr>
          <a:xfrm>
            <a:off x="3644900" y="3251200"/>
            <a:ext cx="2120900" cy="381000"/>
          </a:xfrm>
          <a:prstGeom prst="rect">
            <a:avLst/>
          </a:prstGeom>
          <a:noFill/>
        </p:spPr>
        <p:txBody>
          <a:bodyPr wrap="square" lIns="0" tIns="0" rIns="0" bIns="0" anchor="t">
            <a:noAutofit/>
          </a:bodyPr>
          <a:lstStyle/>
          <a:p>
            <a:pPr algn="l">
              <a:lnSpc>
                <a:spcPct val="125000"/>
              </a:lnSpc>
            </a:pPr>
            <a:r>
              <a:rPr lang="ko-KR" sz="2200" b="0">
                <a:solidFill>
                  <a:srgbClr val="141414"/>
                </a:solidFill>
                <a:latin typeface="Hanken Grotesk SemiBold"/>
                <a:ea typeface="SUIT SemiBold"/>
                <a:cs typeface="SUIT SemiBold"/>
              </a:rPr>
              <a:t>GAMM</a:t>
            </a:r>
          </a:p>
        </p:txBody>
      </p:sp>
      <p:sp>
        <p:nvSpPr>
          <p:cNvPr id="16" name="Step body 2"/>
          <p:cNvSpPr txBox="1"/>
          <p:nvPr/>
        </p:nvSpPr>
        <p:spPr>
          <a:xfrm>
            <a:off x="3644900" y="3708400"/>
            <a:ext cx="2120900" cy="1270000"/>
          </a:xfrm>
          <a:prstGeom prst="rect">
            <a:avLst/>
          </a:prstGeom>
          <a:noFill/>
        </p:spPr>
        <p:txBody>
          <a:bodyPr wrap="square" lIns="0" tIns="0" rIns="0" bIns="0" anchor="t">
            <a:noAutofit/>
          </a:bodyPr>
          <a:lstStyle/>
          <a:p>
            <a:pPr algn="l">
              <a:lnSpc>
                <a:spcPct val="143000"/>
              </a:lnSpc>
            </a:pPr>
            <a:r>
              <a:rPr lang="ko-KR" sz="1400" b="0" dirty="0">
                <a:solidFill>
                  <a:srgbClr val="707070"/>
                </a:solidFill>
                <a:latin typeface="Hanken Grotesk"/>
                <a:ea typeface="SUIT"/>
                <a:cs typeface="SUIT"/>
              </a:rPr>
              <a:t>기종별 </a:t>
            </a:r>
            <a:r>
              <a:rPr lang="ko-KR" sz="1400" b="0" dirty="0" err="1">
                <a:solidFill>
                  <a:srgbClr val="707070"/>
                </a:solidFill>
                <a:latin typeface="Hanken Grotesk"/>
                <a:ea typeface="SUIT"/>
                <a:cs typeface="SUIT"/>
              </a:rPr>
              <a:t>pH</a:t>
            </a:r>
            <a:r>
              <a:rPr lang="ko-KR" sz="1400" b="0" dirty="0">
                <a:solidFill>
                  <a:srgbClr val="707070"/>
                </a:solidFill>
                <a:latin typeface="Hanken Grotesk"/>
                <a:ea typeface="SUIT"/>
                <a:cs typeface="SUIT"/>
              </a:rPr>
              <a:t>–색 곡선 추정. M0 공통 곡선, M1 기종별 상수 차이, M2 기종별 곡선</a:t>
            </a:r>
          </a:p>
        </p:txBody>
      </p:sp>
      <p:sp>
        <p:nvSpPr>
          <p:cNvPr id="17" name="Step card 3"/>
          <p:cNvSpPr/>
          <p:nvPr/>
        </p:nvSpPr>
        <p:spPr>
          <a:xfrm>
            <a:off x="6172200" y="2286000"/>
            <a:ext cx="2628900" cy="2921000"/>
          </a:xfrm>
          <a:prstGeom prst="roundRect">
            <a:avLst>
              <a:gd name="adj" fmla="val 8695"/>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Step tag 3"/>
          <p:cNvSpPr/>
          <p:nvPr/>
        </p:nvSpPr>
        <p:spPr>
          <a:xfrm>
            <a:off x="6426200" y="2540000"/>
            <a:ext cx="644652" cy="254000"/>
          </a:xfrm>
          <a:prstGeom prst="roundRect">
            <a:avLst>
              <a:gd name="adj" fmla="val 50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tep tag 3 text"/>
          <p:cNvSpPr txBox="1"/>
          <p:nvPr/>
        </p:nvSpPr>
        <p:spPr>
          <a:xfrm>
            <a:off x="6426200" y="2540000"/>
            <a:ext cx="644652" cy="254000"/>
          </a:xfrm>
          <a:prstGeom prst="rect">
            <a:avLst/>
          </a:prstGeom>
          <a:noFill/>
        </p:spPr>
        <p:txBody>
          <a:bodyPr wrap="square" lIns="0" tIns="0" rIns="0" bIns="0" anchor="ctr">
            <a:noAutofit/>
          </a:bodyPr>
          <a:lstStyle/>
          <a:p>
            <a:pPr algn="ctr">
              <a:lnSpc>
                <a:spcPct val="100000"/>
              </a:lnSpc>
            </a:pPr>
            <a:r>
              <a:rPr lang="ko-KR" sz="1100" b="0">
                <a:solidFill>
                  <a:srgbClr val="FFFFFF"/>
                </a:solidFill>
                <a:latin typeface="Hanken Grotesk SemiBold"/>
                <a:ea typeface="SUIT SemiBold"/>
                <a:cs typeface="SUIT SemiBold"/>
              </a:rPr>
              <a:t>단계 3</a:t>
            </a:r>
          </a:p>
        </p:txBody>
      </p:sp>
      <p:sp>
        <p:nvSpPr>
          <p:cNvPr id="20" name="Step title 3"/>
          <p:cNvSpPr txBox="1"/>
          <p:nvPr/>
        </p:nvSpPr>
        <p:spPr>
          <a:xfrm>
            <a:off x="6426200" y="2997200"/>
            <a:ext cx="2120900" cy="381000"/>
          </a:xfrm>
          <a:prstGeom prst="rect">
            <a:avLst/>
          </a:prstGeom>
          <a:noFill/>
        </p:spPr>
        <p:txBody>
          <a:bodyPr wrap="square" lIns="0" tIns="0" rIns="0" bIns="0" anchor="t">
            <a:noAutofit/>
          </a:bodyPr>
          <a:lstStyle/>
          <a:p>
            <a:pPr algn="l">
              <a:lnSpc>
                <a:spcPct val="125000"/>
              </a:lnSpc>
            </a:pPr>
            <a:r>
              <a:rPr lang="ko-KR" sz="2200" b="0">
                <a:solidFill>
                  <a:srgbClr val="141414"/>
                </a:solidFill>
                <a:latin typeface="Hanken Grotesk SemiBold"/>
                <a:ea typeface="SUIT SemiBold"/>
                <a:cs typeface="SUIT SemiBold"/>
              </a:rPr>
              <a:t>pH 방향 투영</a:t>
            </a:r>
          </a:p>
        </p:txBody>
      </p:sp>
      <p:sp>
        <p:nvSpPr>
          <p:cNvPr id="21" name="Step body 3"/>
          <p:cNvSpPr txBox="1"/>
          <p:nvPr/>
        </p:nvSpPr>
        <p:spPr>
          <a:xfrm>
            <a:off x="6426200" y="3454400"/>
            <a:ext cx="2120900" cy="1524000"/>
          </a:xfrm>
          <a:prstGeom prst="rect">
            <a:avLst/>
          </a:prstGeom>
          <a:noFill/>
        </p:spPr>
        <p:txBody>
          <a:bodyPr wrap="square" lIns="0" tIns="0" rIns="0" bIns="0" anchor="t">
            <a:noAutofit/>
          </a:bodyPr>
          <a:lstStyle/>
          <a:p>
            <a:pPr algn="l">
              <a:lnSpc>
                <a:spcPct val="143000"/>
              </a:lnSpc>
            </a:pPr>
            <a:r>
              <a:rPr lang="ko-KR" sz="1400" b="0">
                <a:solidFill>
                  <a:srgbClr val="707070"/>
                </a:solidFill>
                <a:latin typeface="Hanken Grotesk"/>
                <a:ea typeface="SUIT"/>
                <a:cs typeface="SUIT"/>
              </a:rPr>
              <a:t>방해 성분의 색 변화 중 pH 방향 성분만 골라 ΔpH로 환산</a:t>
            </a:r>
          </a:p>
        </p:txBody>
      </p:sp>
      <p:sp>
        <p:nvSpPr>
          <p:cNvPr id="22" name="Step card 4"/>
          <p:cNvSpPr/>
          <p:nvPr/>
        </p:nvSpPr>
        <p:spPr>
          <a:xfrm>
            <a:off x="8953500" y="2032000"/>
            <a:ext cx="2628900" cy="3175000"/>
          </a:xfrm>
          <a:prstGeom prst="roundRect">
            <a:avLst>
              <a:gd name="adj" fmla="val 8695"/>
            </a:avLst>
          </a:prstGeom>
          <a:solidFill>
            <a:srgbClr val="FFFFFF"/>
          </a:solidFill>
          <a:ln w="9525">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tep tag 4"/>
          <p:cNvSpPr/>
          <p:nvPr/>
        </p:nvSpPr>
        <p:spPr>
          <a:xfrm>
            <a:off x="9207500" y="2286000"/>
            <a:ext cx="644652" cy="254000"/>
          </a:xfrm>
          <a:prstGeom prst="roundRect">
            <a:avLst>
              <a:gd name="adj" fmla="val 5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tep tag 4 text"/>
          <p:cNvSpPr txBox="1"/>
          <p:nvPr/>
        </p:nvSpPr>
        <p:spPr>
          <a:xfrm>
            <a:off x="9207500" y="2286000"/>
            <a:ext cx="644652" cy="254000"/>
          </a:xfrm>
          <a:prstGeom prst="rect">
            <a:avLst/>
          </a:prstGeom>
          <a:noFill/>
        </p:spPr>
        <p:txBody>
          <a:bodyPr wrap="square" lIns="0" tIns="0" rIns="0" bIns="0" anchor="ctr">
            <a:noAutofit/>
          </a:bodyPr>
          <a:lstStyle/>
          <a:p>
            <a:pPr algn="ctr">
              <a:lnSpc>
                <a:spcPct val="100000"/>
              </a:lnSpc>
            </a:pPr>
            <a:r>
              <a:rPr lang="ko-KR" sz="1100" b="0">
                <a:solidFill>
                  <a:srgbClr val="141414"/>
                </a:solidFill>
                <a:latin typeface="Hanken Grotesk SemiBold"/>
                <a:ea typeface="SUIT SemiBold"/>
                <a:cs typeface="SUIT SemiBold"/>
              </a:rPr>
              <a:t>단계 4</a:t>
            </a:r>
          </a:p>
        </p:txBody>
      </p:sp>
      <p:sp>
        <p:nvSpPr>
          <p:cNvPr id="25" name="Step title 4"/>
          <p:cNvSpPr txBox="1"/>
          <p:nvPr/>
        </p:nvSpPr>
        <p:spPr>
          <a:xfrm>
            <a:off x="9207500" y="2743200"/>
            <a:ext cx="2120900" cy="381000"/>
          </a:xfrm>
          <a:prstGeom prst="rect">
            <a:avLst/>
          </a:prstGeom>
          <a:noFill/>
        </p:spPr>
        <p:txBody>
          <a:bodyPr wrap="square" lIns="0" tIns="0" rIns="0" bIns="0" anchor="t">
            <a:noAutofit/>
          </a:bodyPr>
          <a:lstStyle/>
          <a:p>
            <a:pPr algn="l">
              <a:lnSpc>
                <a:spcPct val="125000"/>
              </a:lnSpc>
            </a:pPr>
            <a:r>
              <a:rPr lang="ko-KR" sz="2200" b="0">
                <a:solidFill>
                  <a:srgbClr val="141414"/>
                </a:solidFill>
                <a:latin typeface="Hanken Grotesk SemiBold"/>
                <a:ea typeface="SUIT SemiBold"/>
                <a:cs typeface="SUIT SemiBold"/>
              </a:rPr>
              <a:t>보정 비교</a:t>
            </a:r>
          </a:p>
        </p:txBody>
      </p:sp>
      <p:sp>
        <p:nvSpPr>
          <p:cNvPr id="26" name="Step body 4"/>
          <p:cNvSpPr txBox="1"/>
          <p:nvPr/>
        </p:nvSpPr>
        <p:spPr>
          <a:xfrm>
            <a:off x="9207500" y="3200400"/>
            <a:ext cx="2120900" cy="1778000"/>
          </a:xfrm>
          <a:prstGeom prst="rect">
            <a:avLst/>
          </a:prstGeom>
          <a:noFill/>
        </p:spPr>
        <p:txBody>
          <a:bodyPr wrap="square" lIns="0" tIns="0" rIns="0" bIns="0" anchor="t">
            <a:noAutofit/>
          </a:bodyPr>
          <a:lstStyle/>
          <a:p>
            <a:pPr algn="l">
              <a:lnSpc>
                <a:spcPct val="143000"/>
              </a:lnSpc>
            </a:pPr>
            <a:r>
              <a:rPr lang="ko-KR" sz="1400" b="0">
                <a:solidFill>
                  <a:srgbClr val="707070"/>
                </a:solidFill>
                <a:latin typeface="Hanken Grotesk"/>
                <a:ea typeface="SUIT"/>
                <a:cs typeface="SUIT"/>
              </a:rPr>
              <a:t>한 기종을 새 휴대폰으로 두고 참조 시험지 0–3장으로 상수 차이 보정</a:t>
            </a:r>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1211072"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842772"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04 결과</a:t>
            </a:r>
          </a:p>
        </p:txBody>
      </p:sp>
      <p:sp>
        <p:nvSpPr>
          <p:cNvPr id="5" name="Title"/>
          <p:cNvSpPr txBox="1"/>
          <p:nvPr/>
        </p:nvSpPr>
        <p:spPr>
          <a:xfrm>
            <a:off x="609600" y="1016000"/>
            <a:ext cx="10972800" cy="508000"/>
          </a:xfrm>
          <a:prstGeom prst="rect">
            <a:avLst/>
          </a:prstGeom>
          <a:noFill/>
        </p:spPr>
        <p:txBody>
          <a:bodyPr wrap="square" lIns="0" tIns="0" rIns="0" bIns="0" anchor="t">
            <a:noAutofit/>
          </a:bodyPr>
          <a:lstStyle/>
          <a:p>
            <a:pPr algn="l">
              <a:lnSpc>
                <a:spcPct val="113000"/>
              </a:lnSpc>
            </a:pPr>
            <a:r>
              <a:rPr lang="ko-KR" sz="3200" b="0">
                <a:solidFill>
                  <a:srgbClr val="141414"/>
                </a:solidFill>
                <a:latin typeface="Hanken Grotesk SemiBold"/>
                <a:ea typeface="SUIT SemiBold"/>
                <a:cs typeface="SUIT SemiBold"/>
              </a:rPr>
              <a:t>배경을 빼면 기기 몫이 절반으로 준다.</a:t>
            </a:r>
          </a:p>
        </p:txBody>
      </p:sp>
      <p:sp>
        <p:nvSpPr>
          <p:cNvPr id="6" name="Lead"/>
          <p:cNvSpPr txBox="1"/>
          <p:nvPr/>
        </p:nvSpPr>
        <p:spPr>
          <a:xfrm>
            <a:off x="609600" y="1625600"/>
            <a:ext cx="9525000" cy="279400"/>
          </a:xfrm>
          <a:prstGeom prst="rect">
            <a:avLst/>
          </a:prstGeom>
          <a:noFill/>
        </p:spPr>
        <p:txBody>
          <a:bodyPr wrap="square" lIns="0" tIns="0" rIns="0" bIns="0" anchor="t">
            <a:noAutofit/>
          </a:bodyPr>
          <a:lstStyle/>
          <a:p>
            <a:pPr algn="l">
              <a:lnSpc>
                <a:spcPct val="138000"/>
              </a:lnSpc>
            </a:pPr>
            <a:r>
              <a:rPr lang="ko-KR" sz="1800" b="0" dirty="0">
                <a:solidFill>
                  <a:srgbClr val="707070"/>
                </a:solidFill>
                <a:latin typeface="Hanken Grotesk Light"/>
                <a:ea typeface="SUIT Light"/>
                <a:cs typeface="SUIT Light"/>
              </a:rPr>
              <a:t>기종 효과 비중 18% → 9%, </a:t>
            </a:r>
            <a:r>
              <a:rPr lang="ko-KR" sz="1800" b="0" dirty="0" err="1">
                <a:solidFill>
                  <a:srgbClr val="707070"/>
                </a:solidFill>
                <a:latin typeface="Hanken Grotesk Light"/>
                <a:ea typeface="SUIT Light"/>
                <a:cs typeface="SUIT Light"/>
              </a:rPr>
              <a:t>pH</a:t>
            </a:r>
            <a:r>
              <a:rPr lang="ko-KR" sz="1800" b="0" dirty="0">
                <a:solidFill>
                  <a:srgbClr val="707070"/>
                </a:solidFill>
                <a:latin typeface="Hanken Grotesk Light"/>
                <a:ea typeface="SUIT Light"/>
                <a:cs typeface="SUIT Light"/>
              </a:rPr>
              <a:t> 효과 비중 78% → 87%</a:t>
            </a:r>
          </a:p>
        </p:txBody>
      </p:sp>
      <p:sp>
        <p:nvSpPr>
          <p:cNvPr id="7" name="Page number"/>
          <p:cNvSpPr txBox="1"/>
          <p:nvPr/>
        </p:nvSpPr>
        <p:spPr>
          <a:xfrm>
            <a:off x="10312400" y="6311900"/>
            <a:ext cx="1270000" cy="139700"/>
          </a:xfrm>
          <a:prstGeom prst="rect">
            <a:avLst/>
          </a:prstGeom>
          <a:noFill/>
        </p:spPr>
        <p:txBody>
          <a:bodyPr wrap="square" lIns="0" tIns="0" rIns="0" bIns="0" anchor="t">
            <a:noAutofit/>
          </a:bodyPr>
          <a:lstStyle/>
          <a:p>
            <a:pPr algn="r">
              <a:lnSpc>
                <a:spcPct val="100000"/>
              </a:lnSpc>
            </a:pPr>
            <a:r>
              <a:rPr lang="ko-KR" sz="1100" b="0">
                <a:solidFill>
                  <a:srgbClr val="ADADAD"/>
                </a:solidFill>
                <a:latin typeface="Hanken Grotesk"/>
                <a:ea typeface="SUIT"/>
                <a:cs typeface="SUIT"/>
              </a:rPr>
              <a:t>6</a:t>
            </a:r>
          </a:p>
        </p:txBody>
      </p:sp>
      <p:graphicFrame>
        <p:nvGraphicFramePr>
          <p:cNvPr id="8" name="Effect share chart"/>
          <p:cNvGraphicFramePr>
            <a:graphicFrameLocks noGrp="1"/>
          </p:cNvGraphicFramePr>
          <p:nvPr/>
        </p:nvGraphicFramePr>
        <p:xfrm>
          <a:off x="609600" y="2159000"/>
          <a:ext cx="6858000" cy="3683000"/>
        </p:xfrm>
        <a:graphic>
          <a:graphicData uri="http://schemas.openxmlformats.org/drawingml/2006/chart">
            <c:chart xmlns:c="http://schemas.openxmlformats.org/drawingml/2006/chart" xmlns:r="http://schemas.openxmlformats.org/officeDocument/2006/relationships" r:id="rId4"/>
          </a:graphicData>
        </a:graphic>
      </p:graphicFrame>
      <p:sp>
        <p:nvSpPr>
          <p:cNvPr id="9" name="Note card"/>
          <p:cNvSpPr/>
          <p:nvPr/>
        </p:nvSpPr>
        <p:spPr>
          <a:xfrm>
            <a:off x="7772400" y="2159000"/>
            <a:ext cx="3810000" cy="3302000"/>
          </a:xfrm>
          <a:prstGeom prst="roundRect">
            <a:avLst>
              <a:gd name="adj" fmla="val 6923"/>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Note title"/>
          <p:cNvSpPr txBox="1"/>
          <p:nvPr/>
        </p:nvSpPr>
        <p:spPr>
          <a:xfrm>
            <a:off x="8077200" y="2463800"/>
            <a:ext cx="3200400" cy="825500"/>
          </a:xfrm>
          <a:prstGeom prst="rect">
            <a:avLst/>
          </a:prstGeom>
          <a:noFill/>
        </p:spPr>
        <p:txBody>
          <a:bodyPr wrap="square" lIns="0" tIns="0" rIns="0" bIns="0" anchor="t">
            <a:noAutofit/>
          </a:bodyPr>
          <a:lstStyle/>
          <a:p>
            <a:pPr algn="l">
              <a:lnSpc>
                <a:spcPct val="125000"/>
              </a:lnSpc>
            </a:pPr>
            <a:r>
              <a:rPr lang="ko-KR" sz="2200" b="0">
                <a:solidFill>
                  <a:srgbClr val="141414"/>
                </a:solidFill>
                <a:latin typeface="Hanken Grotesk SemiBold"/>
                <a:ea typeface="SUIT SemiBold"/>
                <a:cs typeface="SUIT SemiBold"/>
              </a:rPr>
              <a:t>흰 배경 색 변동의 93%는 기종·조명</a:t>
            </a:r>
          </a:p>
        </p:txBody>
      </p:sp>
      <p:sp>
        <p:nvSpPr>
          <p:cNvPr id="11" name="Note body"/>
          <p:cNvSpPr txBox="1"/>
          <p:nvPr/>
        </p:nvSpPr>
        <p:spPr>
          <a:xfrm>
            <a:off x="8077200" y="3429000"/>
            <a:ext cx="3200400" cy="1778000"/>
          </a:xfrm>
          <a:prstGeom prst="rect">
            <a:avLst/>
          </a:prstGeom>
          <a:noFill/>
        </p:spPr>
        <p:txBody>
          <a:bodyPr wrap="square" lIns="0" tIns="0" rIns="0" bIns="0" anchor="t">
            <a:noAutofit/>
          </a:bodyPr>
          <a:lstStyle/>
          <a:p>
            <a:pPr algn="l">
              <a:lnSpc>
                <a:spcPct val="143000"/>
              </a:lnSpc>
            </a:pPr>
            <a:r>
              <a:rPr lang="ko-KR" sz="1400" b="0">
                <a:solidFill>
                  <a:srgbClr val="141414"/>
                </a:solidFill>
                <a:latin typeface="Hanken Grotesk"/>
                <a:ea typeface="SUIT"/>
                <a:cs typeface="SUIT"/>
              </a:rPr>
              <a:t>배경에서 pH 효과는 시험지 단위 검정에서 유의하지 않았다(p = 0.57). 배경은 사실상 방해 요인만 담은 측정값이다.</a:t>
            </a:r>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1211072"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842772"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04 결과</a:t>
            </a:r>
          </a:p>
        </p:txBody>
      </p:sp>
      <p:sp>
        <p:nvSpPr>
          <p:cNvPr id="5" name="Title"/>
          <p:cNvSpPr txBox="1"/>
          <p:nvPr/>
        </p:nvSpPr>
        <p:spPr>
          <a:xfrm>
            <a:off x="609600" y="1016000"/>
            <a:ext cx="10972800" cy="508000"/>
          </a:xfrm>
          <a:prstGeom prst="rect">
            <a:avLst/>
          </a:prstGeom>
          <a:noFill/>
        </p:spPr>
        <p:txBody>
          <a:bodyPr wrap="square" lIns="0" tIns="0" rIns="0" bIns="0" anchor="t">
            <a:noAutofit/>
          </a:bodyPr>
          <a:lstStyle/>
          <a:p>
            <a:pPr algn="l">
              <a:lnSpc>
                <a:spcPct val="113000"/>
              </a:lnSpc>
            </a:pPr>
            <a:r>
              <a:rPr lang="ko-KR" sz="3200" b="0">
                <a:solidFill>
                  <a:srgbClr val="141414"/>
                </a:solidFill>
                <a:latin typeface="Hanken Grotesk SemiBold"/>
                <a:ea typeface="SUIT SemiBold"/>
                <a:cs typeface="SUIT SemiBold"/>
              </a:rPr>
              <a:t>배경을 빼도 기종별 곡선 차이는 남는다.</a:t>
            </a:r>
          </a:p>
        </p:txBody>
      </p:sp>
      <p:sp>
        <p:nvSpPr>
          <p:cNvPr id="6" name="Page number"/>
          <p:cNvSpPr txBox="1"/>
          <p:nvPr/>
        </p:nvSpPr>
        <p:spPr>
          <a:xfrm>
            <a:off x="10312400" y="6311900"/>
            <a:ext cx="1270000" cy="139700"/>
          </a:xfrm>
          <a:prstGeom prst="rect">
            <a:avLst/>
          </a:prstGeom>
          <a:noFill/>
        </p:spPr>
        <p:txBody>
          <a:bodyPr wrap="square" lIns="0" tIns="0" rIns="0" bIns="0" anchor="t">
            <a:noAutofit/>
          </a:bodyPr>
          <a:lstStyle/>
          <a:p>
            <a:pPr algn="r">
              <a:lnSpc>
                <a:spcPct val="100000"/>
              </a:lnSpc>
            </a:pPr>
            <a:r>
              <a:rPr lang="ko-KR" sz="1100" b="0">
                <a:solidFill>
                  <a:srgbClr val="ADADAD"/>
                </a:solidFill>
                <a:latin typeface="Hanken Grotesk"/>
                <a:ea typeface="SUIT"/>
                <a:cs typeface="SUIT"/>
              </a:rPr>
              <a:t>7</a:t>
            </a:r>
          </a:p>
        </p:txBody>
      </p:sp>
      <p:sp>
        <p:nvSpPr>
          <p:cNvPr id="7" name="Stat value 1"/>
          <p:cNvSpPr txBox="1"/>
          <p:nvPr/>
        </p:nvSpPr>
        <p:spPr>
          <a:xfrm>
            <a:off x="609600" y="1968500"/>
            <a:ext cx="4191000" cy="825500"/>
          </a:xfrm>
          <a:prstGeom prst="rect">
            <a:avLst/>
          </a:prstGeom>
          <a:noFill/>
        </p:spPr>
        <p:txBody>
          <a:bodyPr wrap="square" lIns="0" tIns="0" rIns="0" bIns="0" anchor="b">
            <a:noAutofit/>
          </a:bodyPr>
          <a:lstStyle/>
          <a:p>
            <a:pPr algn="l">
              <a:lnSpc>
                <a:spcPct val="100000"/>
              </a:lnSpc>
            </a:pPr>
            <a:r>
              <a:rPr lang="ko-KR" sz="7200" b="0">
                <a:solidFill>
                  <a:srgbClr val="141414"/>
                </a:solidFill>
                <a:latin typeface="Hanken Grotesk SemiBold"/>
                <a:ea typeface="SUIT SemiBold"/>
                <a:cs typeface="SUIT SemiBold"/>
              </a:rPr>
              <a:t>58°</a:t>
            </a:r>
          </a:p>
        </p:txBody>
      </p:sp>
      <p:sp>
        <p:nvSpPr>
          <p:cNvPr id="8" name="Stat caption 1"/>
          <p:cNvSpPr txBox="1"/>
          <p:nvPr/>
        </p:nvSpPr>
        <p:spPr>
          <a:xfrm>
            <a:off x="609600" y="2895600"/>
            <a:ext cx="4191000" cy="635000"/>
          </a:xfrm>
          <a:prstGeom prst="rect">
            <a:avLst/>
          </a:prstGeom>
          <a:noFill/>
        </p:spPr>
        <p:txBody>
          <a:bodyPr wrap="square" lIns="0" tIns="0" rIns="0" bIns="0" anchor="t">
            <a:noAutofit/>
          </a:bodyPr>
          <a:lstStyle/>
          <a:p>
            <a:pPr algn="l">
              <a:lnSpc>
                <a:spcPct val="138000"/>
              </a:lnSpc>
            </a:pPr>
            <a:r>
              <a:rPr lang="ko-KR" sz="1800" b="0">
                <a:solidFill>
                  <a:srgbClr val="707070"/>
                </a:solidFill>
                <a:latin typeface="Hanken Grotesk Light"/>
                <a:ea typeface="SUIT Light"/>
                <a:cs typeface="SUIT Light"/>
              </a:rPr>
              <a:t>pH×기종 상호작용과 pH 효과의 방향 차이(ASCA)</a:t>
            </a:r>
          </a:p>
        </p:txBody>
      </p:sp>
      <p:sp>
        <p:nvSpPr>
          <p:cNvPr id="9" name="Stat value 2"/>
          <p:cNvSpPr txBox="1"/>
          <p:nvPr/>
        </p:nvSpPr>
        <p:spPr>
          <a:xfrm>
            <a:off x="609600" y="3873500"/>
            <a:ext cx="4191000" cy="825500"/>
          </a:xfrm>
          <a:prstGeom prst="rect">
            <a:avLst/>
          </a:prstGeom>
          <a:noFill/>
        </p:spPr>
        <p:txBody>
          <a:bodyPr wrap="square" lIns="0" tIns="0" rIns="0" bIns="0" anchor="b">
            <a:noAutofit/>
          </a:bodyPr>
          <a:lstStyle/>
          <a:p>
            <a:pPr algn="l">
              <a:lnSpc>
                <a:spcPct val="100000"/>
              </a:lnSpc>
            </a:pPr>
            <a:r>
              <a:rPr lang="ko-KR" sz="7200" b="0">
                <a:solidFill>
                  <a:srgbClr val="141414"/>
                </a:solidFill>
                <a:latin typeface="Hanken Grotesk SemiBold"/>
                <a:ea typeface="SUIT SemiBold"/>
                <a:cs typeface="SUIT SemiBold"/>
              </a:rPr>
              <a:t>39–66%.</a:t>
            </a:r>
          </a:p>
        </p:txBody>
      </p:sp>
      <p:sp>
        <p:nvSpPr>
          <p:cNvPr id="10" name="Stat caption 2"/>
          <p:cNvSpPr txBox="1"/>
          <p:nvPr/>
        </p:nvSpPr>
        <p:spPr>
          <a:xfrm>
            <a:off x="609600" y="4800600"/>
            <a:ext cx="4191000" cy="635000"/>
          </a:xfrm>
          <a:prstGeom prst="rect">
            <a:avLst/>
          </a:prstGeom>
          <a:noFill/>
        </p:spPr>
        <p:txBody>
          <a:bodyPr wrap="square" lIns="0" tIns="0" rIns="0" bIns="0" anchor="t">
            <a:noAutofit/>
          </a:bodyPr>
          <a:lstStyle/>
          <a:p>
            <a:pPr algn="l">
              <a:lnSpc>
                <a:spcPct val="138000"/>
              </a:lnSpc>
            </a:pPr>
            <a:r>
              <a:rPr lang="ko-KR" sz="1800" b="0">
                <a:solidFill>
                  <a:srgbClr val="707070"/>
                </a:solidFill>
                <a:latin typeface="Hanken Grotesk Light"/>
                <a:ea typeface="SUIT Light"/>
                <a:cs typeface="SUIT Light"/>
              </a:rPr>
              <a:t>기종별 곡선이 설명한 시험지 간 변동(GAMM)</a:t>
            </a:r>
          </a:p>
        </p:txBody>
      </p:sp>
      <p:sp>
        <p:nvSpPr>
          <p:cNvPr id="11" name="Figure frame"/>
          <p:cNvSpPr/>
          <p:nvPr/>
        </p:nvSpPr>
        <p:spPr>
          <a:xfrm>
            <a:off x="5016500" y="1905000"/>
            <a:ext cx="6565900" cy="3429000"/>
          </a:xfrm>
          <a:prstGeom prst="roundRect">
            <a:avLst>
              <a:gd name="adj" fmla="val 6666"/>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Figure tile"/>
          <p:cNvSpPr/>
          <p:nvPr/>
        </p:nvSpPr>
        <p:spPr>
          <a:xfrm>
            <a:off x="5219700" y="2238128"/>
            <a:ext cx="6159500" cy="2762744"/>
          </a:xfrm>
          <a:prstGeom prst="roundRect">
            <a:avLst>
              <a:gd name="adj" fmla="val 551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GAMM curves figure" descr="Fig3_gam_curves.png"/>
          <p:cNvPicPr>
            <a:picLocks noChangeAspect="1"/>
          </p:cNvPicPr>
          <p:nvPr/>
        </p:nvPicPr>
        <p:blipFill>
          <a:blip r:embed="rId4"/>
          <a:stretch>
            <a:fillRect/>
          </a:stretch>
        </p:blipFill>
        <p:spPr>
          <a:xfrm>
            <a:off x="5219700" y="2339728"/>
            <a:ext cx="6159500" cy="2559544"/>
          </a:xfrm>
          <a:prstGeom prst="roundRect">
            <a:avLst>
              <a:gd name="adj" fmla="val 248"/>
            </a:avLst>
          </a:prstGeom>
        </p:spPr>
      </p:pic>
      <p:sp>
        <p:nvSpPr>
          <p:cNvPr id="14" name="Caption"/>
          <p:cNvSpPr txBox="1"/>
          <p:nvPr/>
        </p:nvSpPr>
        <p:spPr>
          <a:xfrm>
            <a:off x="5016500" y="5435600"/>
            <a:ext cx="6565900" cy="381000"/>
          </a:xfrm>
          <a:prstGeom prst="rect">
            <a:avLst/>
          </a:prstGeom>
          <a:noFill/>
        </p:spPr>
        <p:txBody>
          <a:bodyPr wrap="square" lIns="0" tIns="0" rIns="0" bIns="0" anchor="t">
            <a:noAutofit/>
          </a:bodyPr>
          <a:lstStyle/>
          <a:p>
            <a:pPr algn="l">
              <a:lnSpc>
                <a:spcPct val="133000"/>
              </a:lnSpc>
            </a:pPr>
            <a:r>
              <a:rPr lang="ko-KR" sz="1100" b="0">
                <a:solidFill>
                  <a:srgbClr val="707070"/>
                </a:solidFill>
                <a:latin typeface="Hanken Grotesk"/>
                <a:ea typeface="SUIT"/>
                <a:cs typeface="SUIT"/>
              </a:rPr>
              <a:t>Contrast L*·a*·b*의 기종별 pH 반응 곡선(M2, 95% 구간). 점은 시험지별 다섯 조명 평균</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1211072"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842772"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04 결과</a:t>
            </a:r>
          </a:p>
        </p:txBody>
      </p:sp>
      <p:sp>
        <p:nvSpPr>
          <p:cNvPr id="5" name="Title"/>
          <p:cNvSpPr txBox="1"/>
          <p:nvPr/>
        </p:nvSpPr>
        <p:spPr>
          <a:xfrm>
            <a:off x="609600" y="1016000"/>
            <a:ext cx="10972800" cy="508000"/>
          </a:xfrm>
          <a:prstGeom prst="rect">
            <a:avLst/>
          </a:prstGeom>
          <a:noFill/>
        </p:spPr>
        <p:txBody>
          <a:bodyPr wrap="square" lIns="0" tIns="0" rIns="0" bIns="0" anchor="t">
            <a:noAutofit/>
          </a:bodyPr>
          <a:lstStyle/>
          <a:p>
            <a:pPr algn="l">
              <a:lnSpc>
                <a:spcPct val="113000"/>
              </a:lnSpc>
            </a:pPr>
            <a:r>
              <a:rPr lang="ko-KR" sz="3200" b="0" dirty="0" err="1">
                <a:solidFill>
                  <a:srgbClr val="141414"/>
                </a:solidFill>
                <a:latin typeface="Hanken Grotesk SemiBold"/>
                <a:ea typeface="SUIT SemiBold"/>
                <a:cs typeface="SUIT SemiBold"/>
              </a:rPr>
              <a:t>pH</a:t>
            </a:r>
            <a:r>
              <a:rPr lang="ko-KR" sz="3200" b="0" dirty="0">
                <a:solidFill>
                  <a:srgbClr val="141414"/>
                </a:solidFill>
                <a:latin typeface="Hanken Grotesk SemiBold"/>
                <a:ea typeface="SUIT SemiBold"/>
                <a:cs typeface="SUIT SemiBold"/>
              </a:rPr>
              <a:t> 판독을 크게 흔드는 건 기종별 상수 차이다.</a:t>
            </a:r>
          </a:p>
        </p:txBody>
      </p:sp>
      <p:sp>
        <p:nvSpPr>
          <p:cNvPr id="6" name="Lead"/>
          <p:cNvSpPr txBox="1"/>
          <p:nvPr/>
        </p:nvSpPr>
        <p:spPr>
          <a:xfrm>
            <a:off x="609600" y="1625600"/>
            <a:ext cx="9525000" cy="279400"/>
          </a:xfrm>
          <a:prstGeom prst="rect">
            <a:avLst/>
          </a:prstGeom>
          <a:noFill/>
        </p:spPr>
        <p:txBody>
          <a:bodyPr wrap="square" lIns="0" tIns="0" rIns="0" bIns="0" anchor="t">
            <a:noAutofit/>
          </a:bodyPr>
          <a:lstStyle/>
          <a:p>
            <a:pPr algn="l">
              <a:lnSpc>
                <a:spcPct val="138000"/>
              </a:lnSpc>
            </a:pPr>
            <a:r>
              <a:rPr lang="ko-KR" sz="1800" b="0">
                <a:solidFill>
                  <a:srgbClr val="707070"/>
                </a:solidFill>
                <a:latin typeface="Hanken Grotesk Light"/>
                <a:ea typeface="SUIT Light"/>
                <a:cs typeface="SUIT Light"/>
              </a:rPr>
              <a:t>방해 성분별 평균 pH 판독 오차 (Contrast, pH 2–12)</a:t>
            </a:r>
          </a:p>
        </p:txBody>
      </p:sp>
      <p:sp>
        <p:nvSpPr>
          <p:cNvPr id="7" name="Page number"/>
          <p:cNvSpPr txBox="1"/>
          <p:nvPr/>
        </p:nvSpPr>
        <p:spPr>
          <a:xfrm>
            <a:off x="10312400" y="6311900"/>
            <a:ext cx="1270000" cy="139700"/>
          </a:xfrm>
          <a:prstGeom prst="rect">
            <a:avLst/>
          </a:prstGeom>
          <a:noFill/>
        </p:spPr>
        <p:txBody>
          <a:bodyPr wrap="square" lIns="0" tIns="0" rIns="0" bIns="0" anchor="t">
            <a:noAutofit/>
          </a:bodyPr>
          <a:lstStyle/>
          <a:p>
            <a:pPr algn="r">
              <a:lnSpc>
                <a:spcPct val="100000"/>
              </a:lnSpc>
            </a:pPr>
            <a:r>
              <a:rPr lang="ko-KR" sz="1100" b="0">
                <a:solidFill>
                  <a:srgbClr val="ADADAD"/>
                </a:solidFill>
                <a:latin typeface="Hanken Grotesk"/>
                <a:ea typeface="SUIT"/>
                <a:cs typeface="SUIT"/>
              </a:rPr>
              <a:t>8</a:t>
            </a:r>
          </a:p>
        </p:txBody>
      </p:sp>
      <p:graphicFrame>
        <p:nvGraphicFramePr>
          <p:cNvPr id="8" name="Nuisance pH error chart"/>
          <p:cNvGraphicFramePr>
            <a:graphicFrameLocks noGrp="1"/>
          </p:cNvGraphicFramePr>
          <p:nvPr/>
        </p:nvGraphicFramePr>
        <p:xfrm>
          <a:off x="609600" y="2159000"/>
          <a:ext cx="6858000" cy="3556000"/>
        </p:xfrm>
        <a:graphic>
          <a:graphicData uri="http://schemas.openxmlformats.org/drawingml/2006/chart">
            <c:chart xmlns:c="http://schemas.openxmlformats.org/drawingml/2006/chart" xmlns:r="http://schemas.openxmlformats.org/officeDocument/2006/relationships" r:id="rId3"/>
          </a:graphicData>
        </a:graphic>
      </p:graphicFrame>
      <p:sp>
        <p:nvSpPr>
          <p:cNvPr id="9" name="Chart note"/>
          <p:cNvSpPr txBox="1"/>
          <p:nvPr/>
        </p:nvSpPr>
        <p:spPr>
          <a:xfrm>
            <a:off x="609600" y="5816600"/>
            <a:ext cx="6858000" cy="190500"/>
          </a:xfrm>
          <a:prstGeom prst="rect">
            <a:avLst/>
          </a:prstGeom>
          <a:noFill/>
        </p:spPr>
        <p:txBody>
          <a:bodyPr wrap="square" lIns="0" tIns="0" rIns="0" bIns="0" anchor="t">
            <a:noAutofit/>
          </a:bodyPr>
          <a:lstStyle/>
          <a:p>
            <a:pPr algn="l">
              <a:lnSpc>
                <a:spcPct val="133000"/>
              </a:lnSpc>
            </a:pPr>
            <a:r>
              <a:rPr lang="ko-KR" sz="1100" b="0">
                <a:solidFill>
                  <a:srgbClr val="707070"/>
                </a:solidFill>
                <a:latin typeface="Hanken Grotesk"/>
                <a:ea typeface="SUIT"/>
                <a:cs typeface="SUIT"/>
              </a:rPr>
              <a:t>시험지 간 차이(SD) 0.30 pH</a:t>
            </a:r>
          </a:p>
        </p:txBody>
      </p:sp>
      <p:sp>
        <p:nvSpPr>
          <p:cNvPr id="10" name="Note card 1"/>
          <p:cNvSpPr/>
          <p:nvPr/>
        </p:nvSpPr>
        <p:spPr>
          <a:xfrm>
            <a:off x="7772400" y="2159000"/>
            <a:ext cx="3810000" cy="1651000"/>
          </a:xfrm>
          <a:prstGeom prst="roundRect">
            <a:avLst>
              <a:gd name="adj" fmla="val 13846"/>
            </a:avLst>
          </a:prstGeom>
          <a:solidFill>
            <a:srgbClr val="FFFFFF"/>
          </a:solidFill>
          <a:ln w="9525">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Note title 1"/>
          <p:cNvSpPr txBox="1"/>
          <p:nvPr/>
        </p:nvSpPr>
        <p:spPr>
          <a:xfrm>
            <a:off x="8026400" y="2387600"/>
            <a:ext cx="3302000" cy="254000"/>
          </a:xfrm>
          <a:prstGeom prst="rect">
            <a:avLst/>
          </a:prstGeom>
          <a:noFill/>
        </p:spPr>
        <p:txBody>
          <a:bodyPr wrap="square" lIns="0" tIns="0" rIns="0" bIns="0" anchor="t">
            <a:noAutofit/>
          </a:bodyPr>
          <a:lstStyle/>
          <a:p>
            <a:pPr algn="l">
              <a:lnSpc>
                <a:spcPct val="130000"/>
              </a:lnSpc>
            </a:pPr>
            <a:r>
              <a:rPr lang="ko-KR" sz="1800" b="0">
                <a:solidFill>
                  <a:srgbClr val="141414"/>
                </a:solidFill>
                <a:latin typeface="Hanken Grotesk SemiBold"/>
                <a:ea typeface="SUIT SemiBold"/>
                <a:cs typeface="SUIT SemiBold"/>
              </a:rPr>
              <a:t>크기와 방향이 함께 결정한다</a:t>
            </a:r>
          </a:p>
        </p:txBody>
      </p:sp>
      <p:sp>
        <p:nvSpPr>
          <p:cNvPr id="12" name="Note body 1"/>
          <p:cNvSpPr txBox="1"/>
          <p:nvPr/>
        </p:nvSpPr>
        <p:spPr>
          <a:xfrm>
            <a:off x="8026400" y="2743200"/>
            <a:ext cx="3302000" cy="952500"/>
          </a:xfrm>
          <a:prstGeom prst="rect">
            <a:avLst/>
          </a:prstGeom>
          <a:noFill/>
        </p:spPr>
        <p:txBody>
          <a:bodyPr wrap="square" lIns="0" tIns="0" rIns="0" bIns="0" anchor="t">
            <a:noAutofit/>
          </a:bodyPr>
          <a:lstStyle/>
          <a:p>
            <a:pPr algn="l">
              <a:lnSpc>
                <a:spcPct val="143000"/>
              </a:lnSpc>
            </a:pPr>
            <a:r>
              <a:rPr lang="ko-KR" sz="1400" b="0">
                <a:solidFill>
                  <a:srgbClr val="707070"/>
                </a:solidFill>
                <a:latin typeface="Hanken Grotesk"/>
                <a:ea typeface="SUIT"/>
                <a:cs typeface="SUIT"/>
              </a:rPr>
              <a:t>갤럭시·13 Pro의 상수 차이는 pH 방향과</a:t>
            </a:r>
          </a:p>
          <a:p>
            <a:pPr algn="l">
              <a:lnSpc>
                <a:spcPct val="143000"/>
              </a:lnSpc>
            </a:pPr>
            <a:r>
              <a:rPr lang="ko-KR" sz="1400" b="0">
                <a:solidFill>
                  <a:srgbClr val="707070"/>
                </a:solidFill>
                <a:latin typeface="Hanken Grotesk"/>
                <a:ea typeface="SUIT"/>
                <a:cs typeface="SUIT"/>
              </a:rPr>
              <a:t>32–41°로 가까웠고 16 Pro는 72°로 거의 직각이었다.</a:t>
            </a:r>
          </a:p>
        </p:txBody>
      </p:sp>
      <p:sp>
        <p:nvSpPr>
          <p:cNvPr id="13" name="Note card 2"/>
          <p:cNvSpPr/>
          <p:nvPr/>
        </p:nvSpPr>
        <p:spPr>
          <a:xfrm>
            <a:off x="7772400" y="3962400"/>
            <a:ext cx="3810000" cy="1651000"/>
          </a:xfrm>
          <a:prstGeom prst="roundRect">
            <a:avLst>
              <a:gd name="adj" fmla="val 13846"/>
            </a:avLst>
          </a:prstGeom>
          <a:solidFill>
            <a:srgbClr val="FFFFFF"/>
          </a:solidFill>
          <a:ln w="9525">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Note title 2"/>
          <p:cNvSpPr txBox="1"/>
          <p:nvPr/>
        </p:nvSpPr>
        <p:spPr>
          <a:xfrm>
            <a:off x="8026400" y="4191000"/>
            <a:ext cx="3302000" cy="254000"/>
          </a:xfrm>
          <a:prstGeom prst="rect">
            <a:avLst/>
          </a:prstGeom>
          <a:noFill/>
        </p:spPr>
        <p:txBody>
          <a:bodyPr wrap="square" lIns="0" tIns="0" rIns="0" bIns="0" anchor="t">
            <a:noAutofit/>
          </a:bodyPr>
          <a:lstStyle/>
          <a:p>
            <a:pPr algn="l">
              <a:lnSpc>
                <a:spcPct val="130000"/>
              </a:lnSpc>
            </a:pPr>
            <a:r>
              <a:rPr lang="ko-KR" sz="1800" b="0">
                <a:solidFill>
                  <a:srgbClr val="141414"/>
                </a:solidFill>
                <a:latin typeface="Hanken Grotesk SemiBold"/>
                <a:ea typeface="SUIT SemiBold"/>
                <a:cs typeface="SUIT SemiBold"/>
              </a:rPr>
              <a:t>예측과 관측이 맞았다</a:t>
            </a:r>
          </a:p>
        </p:txBody>
      </p:sp>
      <p:sp>
        <p:nvSpPr>
          <p:cNvPr id="15" name="Note body 2"/>
          <p:cNvSpPr txBox="1"/>
          <p:nvPr/>
        </p:nvSpPr>
        <p:spPr>
          <a:xfrm>
            <a:off x="8026400" y="4546600"/>
            <a:ext cx="3302000" cy="952500"/>
          </a:xfrm>
          <a:prstGeom prst="rect">
            <a:avLst/>
          </a:prstGeom>
          <a:noFill/>
        </p:spPr>
        <p:txBody>
          <a:bodyPr wrap="square" lIns="0" tIns="0" rIns="0" bIns="0" anchor="t">
            <a:noAutofit/>
          </a:bodyPr>
          <a:lstStyle/>
          <a:p>
            <a:pPr algn="l">
              <a:lnSpc>
                <a:spcPct val="143000"/>
              </a:lnSpc>
            </a:pPr>
            <a:r>
              <a:rPr lang="ko-KR" sz="1400" b="0">
                <a:solidFill>
                  <a:srgbClr val="707070"/>
                </a:solidFill>
                <a:latin typeface="Hanken Grotesk"/>
                <a:ea typeface="SUIT"/>
                <a:cs typeface="SUIT"/>
              </a:rPr>
              <a:t>색 구조로 예측한 0.63 / 0.53 / 0.11 pH가 보정 없이 측정한 치우침 0.57 / 0.64 / 0.12 pH와 비슷했다.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1211072"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842772"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04 결과</a:t>
            </a:r>
          </a:p>
        </p:txBody>
      </p:sp>
      <p:sp>
        <p:nvSpPr>
          <p:cNvPr id="5" name="Title"/>
          <p:cNvSpPr txBox="1"/>
          <p:nvPr/>
        </p:nvSpPr>
        <p:spPr>
          <a:xfrm>
            <a:off x="609600" y="1016000"/>
            <a:ext cx="10972800" cy="508000"/>
          </a:xfrm>
          <a:prstGeom prst="rect">
            <a:avLst/>
          </a:prstGeom>
          <a:noFill/>
        </p:spPr>
        <p:txBody>
          <a:bodyPr wrap="square" lIns="0" tIns="0" rIns="0" bIns="0" anchor="t">
            <a:noAutofit/>
          </a:bodyPr>
          <a:lstStyle/>
          <a:p>
            <a:pPr algn="l">
              <a:lnSpc>
                <a:spcPct val="113000"/>
              </a:lnSpc>
            </a:pPr>
            <a:r>
              <a:rPr lang="ko-KR" sz="3200" b="0">
                <a:solidFill>
                  <a:srgbClr val="141414"/>
                </a:solidFill>
                <a:latin typeface="Hanken Grotesk SemiBold"/>
                <a:ea typeface="SUIT SemiBold"/>
                <a:cs typeface="SUIT SemiBold"/>
              </a:rPr>
              <a:t>새 휴대폰에는 참조 시험지 2–3장이면 된다.</a:t>
            </a:r>
          </a:p>
        </p:txBody>
      </p:sp>
      <p:sp>
        <p:nvSpPr>
          <p:cNvPr id="6" name="Lead"/>
          <p:cNvSpPr txBox="1"/>
          <p:nvPr/>
        </p:nvSpPr>
        <p:spPr>
          <a:xfrm>
            <a:off x="609600" y="1625600"/>
            <a:ext cx="9525000" cy="279400"/>
          </a:xfrm>
          <a:prstGeom prst="rect">
            <a:avLst/>
          </a:prstGeom>
          <a:noFill/>
        </p:spPr>
        <p:txBody>
          <a:bodyPr wrap="square" lIns="0" tIns="0" rIns="0" bIns="0" anchor="t">
            <a:noAutofit/>
          </a:bodyPr>
          <a:lstStyle/>
          <a:p>
            <a:pPr algn="l">
              <a:lnSpc>
                <a:spcPct val="138000"/>
              </a:lnSpc>
            </a:pPr>
            <a:r>
              <a:rPr lang="ko-KR" sz="1800" b="0">
                <a:solidFill>
                  <a:srgbClr val="707070"/>
                </a:solidFill>
                <a:latin typeface="Hanken Grotesk Light"/>
                <a:ea typeface="SUIT Light"/>
                <a:cs typeface="SUIT Light"/>
              </a:rPr>
              <a:t>처음 보는 휴대폰의 평균 pH 오차 (Contrast, pH 2–12)</a:t>
            </a:r>
          </a:p>
        </p:txBody>
      </p:sp>
      <p:sp>
        <p:nvSpPr>
          <p:cNvPr id="7" name="Page number"/>
          <p:cNvSpPr txBox="1"/>
          <p:nvPr/>
        </p:nvSpPr>
        <p:spPr>
          <a:xfrm>
            <a:off x="10312400" y="6311900"/>
            <a:ext cx="1270000" cy="139700"/>
          </a:xfrm>
          <a:prstGeom prst="rect">
            <a:avLst/>
          </a:prstGeom>
          <a:noFill/>
        </p:spPr>
        <p:txBody>
          <a:bodyPr wrap="square" lIns="0" tIns="0" rIns="0" bIns="0" anchor="t">
            <a:noAutofit/>
          </a:bodyPr>
          <a:lstStyle/>
          <a:p>
            <a:pPr algn="r">
              <a:lnSpc>
                <a:spcPct val="100000"/>
              </a:lnSpc>
            </a:pPr>
            <a:r>
              <a:rPr lang="ko-KR" sz="1100" b="0">
                <a:solidFill>
                  <a:srgbClr val="ADADAD"/>
                </a:solidFill>
                <a:latin typeface="Hanken Grotesk"/>
                <a:ea typeface="SUIT"/>
                <a:cs typeface="SUIT"/>
              </a:rPr>
              <a:t>9</a:t>
            </a:r>
          </a:p>
        </p:txBody>
      </p:sp>
      <p:graphicFrame>
        <p:nvGraphicFramePr>
          <p:cNvPr id="8" name="Calibration error chart"/>
          <p:cNvGraphicFramePr>
            <a:graphicFrameLocks noGrp="1"/>
          </p:cNvGraphicFramePr>
          <p:nvPr/>
        </p:nvGraphicFramePr>
        <p:xfrm>
          <a:off x="609600" y="2159000"/>
          <a:ext cx="6477000" cy="3302000"/>
        </p:xfrm>
        <a:graphic>
          <a:graphicData uri="http://schemas.openxmlformats.org/drawingml/2006/chart">
            <c:chart xmlns:c="http://schemas.openxmlformats.org/drawingml/2006/chart" xmlns:r="http://schemas.openxmlformats.org/officeDocument/2006/relationships" r:id="rId4"/>
          </a:graphicData>
        </a:graphic>
      </p:graphicFrame>
      <p:sp>
        <p:nvSpPr>
          <p:cNvPr id="9" name="Axis title"/>
          <p:cNvSpPr txBox="1"/>
          <p:nvPr/>
        </p:nvSpPr>
        <p:spPr>
          <a:xfrm>
            <a:off x="609600" y="5537200"/>
            <a:ext cx="6477000" cy="190500"/>
          </a:xfrm>
          <a:prstGeom prst="rect">
            <a:avLst/>
          </a:prstGeom>
          <a:noFill/>
        </p:spPr>
        <p:txBody>
          <a:bodyPr wrap="square" lIns="0" tIns="0" rIns="0" bIns="0" anchor="t">
            <a:noAutofit/>
          </a:bodyPr>
          <a:lstStyle/>
          <a:p>
            <a:pPr algn="ctr">
              <a:lnSpc>
                <a:spcPct val="133000"/>
              </a:lnSpc>
            </a:pPr>
            <a:r>
              <a:rPr lang="ko-KR" sz="1100" b="0">
                <a:solidFill>
                  <a:srgbClr val="707070"/>
                </a:solidFill>
                <a:latin typeface="Hanken Grotesk"/>
                <a:ea typeface="SUIT"/>
                <a:cs typeface="SUIT"/>
              </a:rPr>
              <a:t>참조 시험지 수 (처음 보는 휴대폰으로 촬영)</a:t>
            </a:r>
          </a:p>
        </p:txBody>
      </p:sp>
      <p:sp>
        <p:nvSpPr>
          <p:cNvPr id="10" name="Stat value"/>
          <p:cNvSpPr txBox="1"/>
          <p:nvPr/>
        </p:nvSpPr>
        <p:spPr>
          <a:xfrm>
            <a:off x="7620000" y="1841500"/>
            <a:ext cx="3962400" cy="762000"/>
          </a:xfrm>
          <a:prstGeom prst="rect">
            <a:avLst/>
          </a:prstGeom>
          <a:noFill/>
        </p:spPr>
        <p:txBody>
          <a:bodyPr wrap="square" lIns="0" tIns="0" rIns="0" bIns="0" anchor="b">
            <a:noAutofit/>
          </a:bodyPr>
          <a:lstStyle/>
          <a:p>
            <a:pPr algn="l">
              <a:lnSpc>
                <a:spcPct val="100000"/>
              </a:lnSpc>
            </a:pPr>
            <a:r>
              <a:rPr lang="ko-KR" sz="7200" b="0" dirty="0">
                <a:solidFill>
                  <a:srgbClr val="0066FF"/>
                </a:solidFill>
                <a:latin typeface="Hanken Grotesk SemiBold"/>
                <a:ea typeface="SUIT SemiBold"/>
                <a:cs typeface="SUIT SemiBold"/>
              </a:rPr>
              <a:t>77–86%.</a:t>
            </a:r>
          </a:p>
        </p:txBody>
      </p:sp>
      <p:sp>
        <p:nvSpPr>
          <p:cNvPr id="11" name="Stat caption"/>
          <p:cNvSpPr txBox="1"/>
          <p:nvPr/>
        </p:nvSpPr>
        <p:spPr>
          <a:xfrm>
            <a:off x="7620000" y="2705100"/>
            <a:ext cx="3962400" cy="635000"/>
          </a:xfrm>
          <a:prstGeom prst="rect">
            <a:avLst/>
          </a:prstGeom>
          <a:noFill/>
        </p:spPr>
        <p:txBody>
          <a:bodyPr wrap="square" lIns="0" tIns="0" rIns="0" bIns="0" anchor="t">
            <a:noAutofit/>
          </a:bodyPr>
          <a:lstStyle/>
          <a:p>
            <a:pPr algn="l">
              <a:lnSpc>
                <a:spcPct val="138000"/>
              </a:lnSpc>
            </a:pPr>
            <a:r>
              <a:rPr lang="ko-KR" sz="1800" b="0">
                <a:solidFill>
                  <a:srgbClr val="707070"/>
                </a:solidFill>
                <a:latin typeface="Hanken Grotesk Light"/>
                <a:ea typeface="SUIT Light"/>
                <a:cs typeface="SUIT Light"/>
              </a:rPr>
              <a:t>2–3장으로 얻는 개선 비율(12장 전부 사용 대비)</a:t>
            </a:r>
          </a:p>
        </p:txBody>
      </p:sp>
      <p:sp>
        <p:nvSpPr>
          <p:cNvPr id="12" name="Fact row 1"/>
          <p:cNvSpPr/>
          <p:nvPr/>
        </p:nvSpPr>
        <p:spPr>
          <a:xfrm>
            <a:off x="7620000" y="3759200"/>
            <a:ext cx="3962400" cy="558800"/>
          </a:xfrm>
          <a:prstGeom prst="roundRect">
            <a:avLst>
              <a:gd name="adj" fmla="val 27272"/>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Fact 1"/>
          <p:cNvSpPr txBox="1"/>
          <p:nvPr/>
        </p:nvSpPr>
        <p:spPr>
          <a:xfrm>
            <a:off x="7823200" y="3759200"/>
            <a:ext cx="3556000" cy="558800"/>
          </a:xfrm>
          <a:prstGeom prst="rect">
            <a:avLst/>
          </a:prstGeom>
          <a:noFill/>
        </p:spPr>
        <p:txBody>
          <a:bodyPr wrap="square" lIns="0" tIns="0" rIns="0" bIns="0" anchor="ctr">
            <a:noAutofit/>
          </a:bodyPr>
          <a:lstStyle/>
          <a:p>
            <a:pPr algn="l">
              <a:lnSpc>
                <a:spcPct val="138000"/>
              </a:lnSpc>
            </a:pPr>
            <a:r>
              <a:rPr lang="ko-KR" sz="1400" b="0">
                <a:solidFill>
                  <a:srgbClr val="141414"/>
                </a:solidFill>
                <a:latin typeface="Hanken Grotesk"/>
                <a:ea typeface="SUIT"/>
                <a:cs typeface="SUIT"/>
              </a:rPr>
              <a:t>곡선 모양까지 보정해도 추가 개선은 0.03 pH (유의하지 않음)</a:t>
            </a:r>
          </a:p>
        </p:txBody>
      </p:sp>
      <p:sp>
        <p:nvSpPr>
          <p:cNvPr id="14" name="Fact row 2"/>
          <p:cNvSpPr/>
          <p:nvPr/>
        </p:nvSpPr>
        <p:spPr>
          <a:xfrm>
            <a:off x="7620000" y="4419600"/>
            <a:ext cx="3962400" cy="558800"/>
          </a:xfrm>
          <a:prstGeom prst="roundRect">
            <a:avLst>
              <a:gd name="adj" fmla="val 27272"/>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Fact 2"/>
          <p:cNvSpPr txBox="1"/>
          <p:nvPr/>
        </p:nvSpPr>
        <p:spPr>
          <a:xfrm>
            <a:off x="7823200" y="4419600"/>
            <a:ext cx="3556000" cy="558800"/>
          </a:xfrm>
          <a:prstGeom prst="rect">
            <a:avLst/>
          </a:prstGeom>
          <a:noFill/>
        </p:spPr>
        <p:txBody>
          <a:bodyPr wrap="square" lIns="0" tIns="0" rIns="0" bIns="0" anchor="ctr">
            <a:noAutofit/>
          </a:bodyPr>
          <a:lstStyle/>
          <a:p>
            <a:pPr algn="l">
              <a:lnSpc>
                <a:spcPct val="138000"/>
              </a:lnSpc>
            </a:pPr>
            <a:r>
              <a:rPr lang="ko-KR" sz="1400" b="0" dirty="0">
                <a:solidFill>
                  <a:srgbClr val="141414"/>
                </a:solidFill>
                <a:latin typeface="Hanken Grotesk"/>
                <a:ea typeface="SUIT"/>
                <a:cs typeface="SUIT"/>
              </a:rPr>
              <a:t>흰 배경 기반 보정 4종은 상수 차이를 없애지 못했다 (오차 0.71–0.73)</a:t>
            </a:r>
          </a:p>
        </p:txBody>
      </p:sp>
      <p:sp>
        <p:nvSpPr>
          <p:cNvPr id="16" name="Fact row 3"/>
          <p:cNvSpPr/>
          <p:nvPr/>
        </p:nvSpPr>
        <p:spPr>
          <a:xfrm>
            <a:off x="7620000" y="5080000"/>
            <a:ext cx="3962400" cy="558800"/>
          </a:xfrm>
          <a:prstGeom prst="roundRect">
            <a:avLst>
              <a:gd name="adj" fmla="val 27272"/>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Fact 3"/>
          <p:cNvSpPr txBox="1"/>
          <p:nvPr/>
        </p:nvSpPr>
        <p:spPr>
          <a:xfrm>
            <a:off x="7823200" y="5080000"/>
            <a:ext cx="3556000" cy="558800"/>
          </a:xfrm>
          <a:prstGeom prst="rect">
            <a:avLst/>
          </a:prstGeom>
          <a:noFill/>
        </p:spPr>
        <p:txBody>
          <a:bodyPr wrap="square" lIns="0" tIns="0" rIns="0" bIns="0" anchor="ctr">
            <a:noAutofit/>
          </a:bodyPr>
          <a:lstStyle/>
          <a:p>
            <a:pPr algn="l">
              <a:lnSpc>
                <a:spcPct val="138000"/>
              </a:lnSpc>
            </a:pPr>
            <a:r>
              <a:rPr lang="ko-KR" sz="1400" b="0">
                <a:solidFill>
                  <a:srgbClr val="141414"/>
                </a:solidFill>
                <a:latin typeface="Hanken Grotesk"/>
                <a:ea typeface="SUIT"/>
                <a:cs typeface="SUIT"/>
              </a:rPr>
              <a:t>참조 시험지가 1장이라면 pH 12는 피한다</a:t>
            </a:r>
          </a:p>
        </p:txBody>
      </p:sp>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1669796"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1301496"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05 분석 단위</a:t>
            </a:r>
          </a:p>
        </p:txBody>
      </p:sp>
      <p:sp>
        <p:nvSpPr>
          <p:cNvPr id="5" name="Title"/>
          <p:cNvSpPr txBox="1"/>
          <p:nvPr/>
        </p:nvSpPr>
        <p:spPr>
          <a:xfrm>
            <a:off x="609600" y="1016000"/>
            <a:ext cx="10972800" cy="508000"/>
          </a:xfrm>
          <a:prstGeom prst="rect">
            <a:avLst/>
          </a:prstGeom>
          <a:noFill/>
        </p:spPr>
        <p:txBody>
          <a:bodyPr wrap="square" lIns="0" tIns="0" rIns="0" bIns="0" anchor="t">
            <a:noAutofit/>
          </a:bodyPr>
          <a:lstStyle/>
          <a:p>
            <a:pPr algn="l">
              <a:lnSpc>
                <a:spcPct val="113000"/>
              </a:lnSpc>
            </a:pPr>
            <a:r>
              <a:rPr lang="ko-KR" sz="3200" b="0" dirty="0">
                <a:solidFill>
                  <a:srgbClr val="141414"/>
                </a:solidFill>
                <a:latin typeface="Hanken Grotesk SemiBold"/>
                <a:ea typeface="SUIT SemiBold"/>
                <a:cs typeface="SUIT SemiBold"/>
              </a:rPr>
              <a:t>사진을 독립 표본으로 보면 결과가 부풀려진다.</a:t>
            </a:r>
          </a:p>
        </p:txBody>
      </p:sp>
      <p:sp>
        <p:nvSpPr>
          <p:cNvPr id="6" name="Page number"/>
          <p:cNvSpPr txBox="1"/>
          <p:nvPr/>
        </p:nvSpPr>
        <p:spPr>
          <a:xfrm>
            <a:off x="10312400" y="6311900"/>
            <a:ext cx="1270000" cy="139700"/>
          </a:xfrm>
          <a:prstGeom prst="rect">
            <a:avLst/>
          </a:prstGeom>
          <a:noFill/>
        </p:spPr>
        <p:txBody>
          <a:bodyPr wrap="square" lIns="0" tIns="0" rIns="0" bIns="0" anchor="t">
            <a:noAutofit/>
          </a:bodyPr>
          <a:lstStyle/>
          <a:p>
            <a:pPr algn="r">
              <a:lnSpc>
                <a:spcPct val="100000"/>
              </a:lnSpc>
            </a:pPr>
            <a:r>
              <a:rPr lang="ko-KR" sz="1100" b="0">
                <a:solidFill>
                  <a:srgbClr val="ADADAD"/>
                </a:solidFill>
                <a:latin typeface="Hanken Grotesk"/>
                <a:ea typeface="SUIT"/>
                <a:cs typeface="SUIT"/>
              </a:rPr>
              <a:t>10</a:t>
            </a:r>
          </a:p>
        </p:txBody>
      </p:sp>
      <p:sp>
        <p:nvSpPr>
          <p:cNvPr id="7" name="Card 1"/>
          <p:cNvSpPr/>
          <p:nvPr/>
        </p:nvSpPr>
        <p:spPr>
          <a:xfrm>
            <a:off x="609600" y="2032000"/>
            <a:ext cx="5410200" cy="2794000"/>
          </a:xfrm>
          <a:prstGeom prst="roundRect">
            <a:avLst>
              <a:gd name="adj" fmla="val 8181"/>
            </a:avLst>
          </a:prstGeom>
          <a:solidFill>
            <a:srgbClr val="FFFFFF"/>
          </a:solidFill>
          <a:ln w="9525">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Card title 1"/>
          <p:cNvSpPr txBox="1"/>
          <p:nvPr/>
        </p:nvSpPr>
        <p:spPr>
          <a:xfrm>
            <a:off x="914400" y="2336800"/>
            <a:ext cx="4800600" cy="317500"/>
          </a:xfrm>
          <a:prstGeom prst="rect">
            <a:avLst/>
          </a:prstGeom>
          <a:noFill/>
        </p:spPr>
        <p:txBody>
          <a:bodyPr wrap="square" lIns="0" tIns="0" rIns="0" bIns="0" anchor="t">
            <a:noAutofit/>
          </a:bodyPr>
          <a:lstStyle/>
          <a:p>
            <a:pPr algn="l">
              <a:lnSpc>
                <a:spcPct val="125000"/>
              </a:lnSpc>
            </a:pPr>
            <a:r>
              <a:rPr lang="ko-KR" sz="2200" b="0">
                <a:solidFill>
                  <a:srgbClr val="141414"/>
                </a:solidFill>
                <a:latin typeface="Hanken Grotesk SemiBold"/>
                <a:ea typeface="SUIT SemiBold"/>
                <a:cs typeface="SUIT SemiBold"/>
              </a:rPr>
              <a:t>배경의 pH 효과 p값</a:t>
            </a:r>
          </a:p>
        </p:txBody>
      </p:sp>
      <p:sp>
        <p:nvSpPr>
          <p:cNvPr id="9" name="Card value 1"/>
          <p:cNvSpPr txBox="1"/>
          <p:nvPr/>
        </p:nvSpPr>
        <p:spPr>
          <a:xfrm>
            <a:off x="914400" y="2857500"/>
            <a:ext cx="4800600" cy="889000"/>
          </a:xfrm>
          <a:prstGeom prst="rect">
            <a:avLst/>
          </a:prstGeom>
          <a:noFill/>
        </p:spPr>
        <p:txBody>
          <a:bodyPr wrap="square" lIns="0" tIns="0" rIns="0" bIns="0" anchor="ctr">
            <a:noAutofit/>
          </a:bodyPr>
          <a:lstStyle/>
          <a:p>
            <a:pPr algn="l">
              <a:lnSpc>
                <a:spcPct val="100000"/>
              </a:lnSpc>
            </a:pPr>
            <a:r>
              <a:rPr lang="ko-KR" sz="4800" b="0">
                <a:solidFill>
                  <a:srgbClr val="141414"/>
                </a:solidFill>
                <a:latin typeface="Hanken Grotesk SemiBold"/>
                <a:ea typeface="SUIT SemiBold"/>
                <a:cs typeface="SUIT SemiBold"/>
              </a:rPr>
              <a:t>0.0001 → 0.57</a:t>
            </a:r>
          </a:p>
        </p:txBody>
      </p:sp>
      <p:sp>
        <p:nvSpPr>
          <p:cNvPr id="10" name="Card caption 1"/>
          <p:cNvSpPr txBox="1"/>
          <p:nvPr/>
        </p:nvSpPr>
        <p:spPr>
          <a:xfrm>
            <a:off x="914400" y="4064000"/>
            <a:ext cx="4800600" cy="508000"/>
          </a:xfrm>
          <a:prstGeom prst="rect">
            <a:avLst/>
          </a:prstGeom>
          <a:noFill/>
        </p:spPr>
        <p:txBody>
          <a:bodyPr wrap="square" lIns="0" tIns="0" rIns="0" bIns="0" anchor="t">
            <a:noAutofit/>
          </a:bodyPr>
          <a:lstStyle/>
          <a:p>
            <a:pPr algn="l">
              <a:lnSpc>
                <a:spcPct val="138000"/>
              </a:lnSpc>
            </a:pPr>
            <a:r>
              <a:rPr lang="ko-KR" sz="1800" b="0">
                <a:solidFill>
                  <a:srgbClr val="707070"/>
                </a:solidFill>
                <a:latin typeface="Hanken Grotesk Light"/>
                <a:ea typeface="SUIT Light"/>
                <a:cs typeface="SUIT Light"/>
              </a:rPr>
              <a:t>사진 단위 → 시험지 단위</a:t>
            </a:r>
          </a:p>
        </p:txBody>
      </p:sp>
      <p:sp>
        <p:nvSpPr>
          <p:cNvPr id="11" name="Card 2"/>
          <p:cNvSpPr/>
          <p:nvPr/>
        </p:nvSpPr>
        <p:spPr>
          <a:xfrm>
            <a:off x="6172200" y="2032000"/>
            <a:ext cx="5410200" cy="2794000"/>
          </a:xfrm>
          <a:prstGeom prst="roundRect">
            <a:avLst>
              <a:gd name="adj" fmla="val 8181"/>
            </a:avLst>
          </a:prstGeom>
          <a:solidFill>
            <a:srgbClr val="FFFFFF"/>
          </a:solidFill>
          <a:ln w="9525">
            <a:solidFill>
              <a:srgbClr val="F0F0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Card title 2"/>
          <p:cNvSpPr txBox="1"/>
          <p:nvPr/>
        </p:nvSpPr>
        <p:spPr>
          <a:xfrm>
            <a:off x="6477000" y="2336800"/>
            <a:ext cx="4800600" cy="317500"/>
          </a:xfrm>
          <a:prstGeom prst="rect">
            <a:avLst/>
          </a:prstGeom>
          <a:noFill/>
        </p:spPr>
        <p:txBody>
          <a:bodyPr wrap="square" lIns="0" tIns="0" rIns="0" bIns="0" anchor="t">
            <a:noAutofit/>
          </a:bodyPr>
          <a:lstStyle/>
          <a:p>
            <a:pPr algn="l">
              <a:lnSpc>
                <a:spcPct val="125000"/>
              </a:lnSpc>
            </a:pPr>
            <a:r>
              <a:rPr lang="ko-KR" sz="2200" b="0">
                <a:solidFill>
                  <a:srgbClr val="141414"/>
                </a:solidFill>
                <a:latin typeface="Hanken Grotesk SemiBold"/>
                <a:ea typeface="SUIT SemiBold"/>
                <a:cs typeface="SUIT SemiBold"/>
              </a:rPr>
              <a:t>기종별 모델의 개선 폭(ΔE)</a:t>
            </a:r>
          </a:p>
        </p:txBody>
      </p:sp>
      <p:sp>
        <p:nvSpPr>
          <p:cNvPr id="13" name="Card value 2"/>
          <p:cNvSpPr txBox="1"/>
          <p:nvPr/>
        </p:nvSpPr>
        <p:spPr>
          <a:xfrm>
            <a:off x="6477000" y="2857500"/>
            <a:ext cx="4800600" cy="889000"/>
          </a:xfrm>
          <a:prstGeom prst="rect">
            <a:avLst/>
          </a:prstGeom>
          <a:noFill/>
        </p:spPr>
        <p:txBody>
          <a:bodyPr wrap="square" lIns="0" tIns="0" rIns="0" bIns="0" anchor="ctr">
            <a:noAutofit/>
          </a:bodyPr>
          <a:lstStyle/>
          <a:p>
            <a:pPr algn="l">
              <a:lnSpc>
                <a:spcPct val="100000"/>
              </a:lnSpc>
            </a:pPr>
            <a:r>
              <a:rPr lang="ko-KR" sz="4800" b="0">
                <a:solidFill>
                  <a:srgbClr val="141414"/>
                </a:solidFill>
                <a:latin typeface="Hanken Grotesk SemiBold"/>
                <a:ea typeface="SUIT SemiBold"/>
                <a:cs typeface="SUIT SemiBold"/>
              </a:rPr>
              <a:t>3.8 → 0.9</a:t>
            </a:r>
          </a:p>
        </p:txBody>
      </p:sp>
      <p:sp>
        <p:nvSpPr>
          <p:cNvPr id="14" name="Card caption 2"/>
          <p:cNvSpPr txBox="1"/>
          <p:nvPr/>
        </p:nvSpPr>
        <p:spPr>
          <a:xfrm>
            <a:off x="6477000" y="4064000"/>
            <a:ext cx="4800600" cy="508000"/>
          </a:xfrm>
          <a:prstGeom prst="rect">
            <a:avLst/>
          </a:prstGeom>
          <a:noFill/>
        </p:spPr>
        <p:txBody>
          <a:bodyPr wrap="square" lIns="0" tIns="0" rIns="0" bIns="0" anchor="t">
            <a:noAutofit/>
          </a:bodyPr>
          <a:lstStyle/>
          <a:p>
            <a:pPr algn="l">
              <a:lnSpc>
                <a:spcPct val="138000"/>
              </a:lnSpc>
            </a:pPr>
            <a:r>
              <a:rPr lang="ko-KR" sz="1800" b="0">
                <a:solidFill>
                  <a:srgbClr val="707070"/>
                </a:solidFill>
                <a:latin typeface="Hanken Grotesk Light"/>
                <a:ea typeface="SUIT Light"/>
                <a:cs typeface="SUIT Light"/>
              </a:rPr>
              <a:t>사진 단위 검증 → 시험지 단위 검증, 약 4배 차이</a:t>
            </a:r>
          </a:p>
        </p:txBody>
      </p:sp>
      <p:sp>
        <p:nvSpPr>
          <p:cNvPr id="15" name="Simulation row"/>
          <p:cNvSpPr/>
          <p:nvPr/>
        </p:nvSpPr>
        <p:spPr>
          <a:xfrm>
            <a:off x="609600" y="5080000"/>
            <a:ext cx="10972800" cy="609600"/>
          </a:xfrm>
          <a:prstGeom prst="roundRect">
            <a:avLst>
              <a:gd name="adj" fmla="val 2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imulation note"/>
          <p:cNvSpPr txBox="1"/>
          <p:nvPr/>
        </p:nvSpPr>
        <p:spPr>
          <a:xfrm>
            <a:off x="863600" y="5080000"/>
            <a:ext cx="10464800" cy="609600"/>
          </a:xfrm>
          <a:prstGeom prst="rect">
            <a:avLst/>
          </a:prstGeom>
          <a:noFill/>
        </p:spPr>
        <p:txBody>
          <a:bodyPr wrap="square" lIns="0" tIns="0" rIns="0" bIns="0" anchor="ctr">
            <a:noAutofit/>
          </a:bodyPr>
          <a:lstStyle/>
          <a:p>
            <a:pPr algn="l">
              <a:lnSpc>
                <a:spcPct val="138000"/>
              </a:lnSpc>
            </a:pPr>
            <a:r>
              <a:rPr lang="ko-KR" sz="1400" b="0">
                <a:solidFill>
                  <a:srgbClr val="141414"/>
                </a:solidFill>
                <a:latin typeface="Hanken Grotesk"/>
                <a:ea typeface="SUIT"/>
                <a:cs typeface="SUIT"/>
              </a:rPr>
              <a:t>모의실험에서 사진 단위 검정의 1종 오류는 75–100%였다. 시험지 단위 검정은 명목 수준 5%를 지켰다(0.046–0.058).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ill"/>
          <p:cNvSpPr/>
          <p:nvPr/>
        </p:nvSpPr>
        <p:spPr>
          <a:xfrm>
            <a:off x="609600" y="457200"/>
            <a:ext cx="1211072" cy="355600"/>
          </a:xfrm>
          <a:prstGeom prst="roundRect">
            <a:avLst>
              <a:gd name="adj" fmla="val 5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Logomark"/>
          <p:cNvSpPr/>
          <p:nvPr/>
        </p:nvSpPr>
        <p:spPr>
          <a:xfrm>
            <a:off x="762000" y="571500"/>
            <a:ext cx="127000" cy="1270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pill text"/>
          <p:cNvSpPr txBox="1"/>
          <p:nvPr/>
        </p:nvSpPr>
        <p:spPr>
          <a:xfrm>
            <a:off x="977900" y="457200"/>
            <a:ext cx="842772" cy="355600"/>
          </a:xfrm>
          <a:prstGeom prst="rect">
            <a:avLst/>
          </a:prstGeom>
          <a:noFill/>
        </p:spPr>
        <p:txBody>
          <a:bodyPr wrap="square" lIns="0" tIns="0" rIns="0" bIns="0" anchor="ctr">
            <a:noAutofit/>
          </a:bodyPr>
          <a:lstStyle/>
          <a:p>
            <a:pPr algn="l">
              <a:lnSpc>
                <a:spcPct val="100000"/>
              </a:lnSpc>
            </a:pPr>
            <a:r>
              <a:rPr lang="ko-KR" sz="1400" b="0">
                <a:solidFill>
                  <a:srgbClr val="141414"/>
                </a:solidFill>
                <a:latin typeface="Hanken Grotesk SemiBold"/>
                <a:ea typeface="SUIT SemiBold"/>
                <a:cs typeface="SUIT SemiBold"/>
              </a:rPr>
              <a:t>06 결론</a:t>
            </a:r>
          </a:p>
        </p:txBody>
      </p:sp>
      <p:sp>
        <p:nvSpPr>
          <p:cNvPr id="5" name="Title"/>
          <p:cNvSpPr txBox="1"/>
          <p:nvPr/>
        </p:nvSpPr>
        <p:spPr>
          <a:xfrm>
            <a:off x="609600" y="1016000"/>
            <a:ext cx="10972800" cy="508000"/>
          </a:xfrm>
          <a:prstGeom prst="rect">
            <a:avLst/>
          </a:prstGeom>
          <a:noFill/>
        </p:spPr>
        <p:txBody>
          <a:bodyPr wrap="square" lIns="0" tIns="0" rIns="0" bIns="0" anchor="t">
            <a:noAutofit/>
          </a:bodyPr>
          <a:lstStyle/>
          <a:p>
            <a:pPr algn="l">
              <a:lnSpc>
                <a:spcPct val="113000"/>
              </a:lnSpc>
            </a:pPr>
            <a:r>
              <a:rPr lang="ko-KR" sz="3200" b="0">
                <a:solidFill>
                  <a:srgbClr val="141414"/>
                </a:solidFill>
                <a:latin typeface="Hanken Grotesk SemiBold"/>
                <a:ea typeface="SUIT SemiBold"/>
                <a:cs typeface="SUIT SemiBold"/>
              </a:rPr>
              <a:t>새 휴대폰마다 참조 시험지 2–3장을 찍자.</a:t>
            </a:r>
          </a:p>
        </p:txBody>
      </p:sp>
      <p:sp>
        <p:nvSpPr>
          <p:cNvPr id="6" name="Page number"/>
          <p:cNvSpPr txBox="1"/>
          <p:nvPr/>
        </p:nvSpPr>
        <p:spPr>
          <a:xfrm>
            <a:off x="10312400" y="6311900"/>
            <a:ext cx="1270000" cy="139700"/>
          </a:xfrm>
          <a:prstGeom prst="rect">
            <a:avLst/>
          </a:prstGeom>
          <a:noFill/>
        </p:spPr>
        <p:txBody>
          <a:bodyPr wrap="square" lIns="0" tIns="0" rIns="0" bIns="0" anchor="t">
            <a:noAutofit/>
          </a:bodyPr>
          <a:lstStyle/>
          <a:p>
            <a:pPr algn="r">
              <a:lnSpc>
                <a:spcPct val="100000"/>
              </a:lnSpc>
            </a:pPr>
            <a:r>
              <a:rPr lang="ko-KR" sz="1100" b="0">
                <a:solidFill>
                  <a:srgbClr val="ADADAD"/>
                </a:solidFill>
                <a:latin typeface="Hanken Grotesk"/>
                <a:ea typeface="SUIT"/>
                <a:cs typeface="SUIT"/>
              </a:rPr>
              <a:t>11</a:t>
            </a:r>
          </a:p>
        </p:txBody>
      </p:sp>
      <p:sp>
        <p:nvSpPr>
          <p:cNvPr id="7" name="Conclusion row 1"/>
          <p:cNvSpPr/>
          <p:nvPr/>
        </p:nvSpPr>
        <p:spPr>
          <a:xfrm>
            <a:off x="609600" y="2032000"/>
            <a:ext cx="10972800" cy="660400"/>
          </a:xfrm>
          <a:prstGeom prst="roundRect">
            <a:avLst>
              <a:gd name="adj" fmla="val 23076"/>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Number disc 1"/>
          <p:cNvSpPr/>
          <p:nvPr/>
        </p:nvSpPr>
        <p:spPr>
          <a:xfrm>
            <a:off x="812800" y="2184400"/>
            <a:ext cx="355600" cy="3556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Number 1"/>
          <p:cNvSpPr txBox="1"/>
          <p:nvPr/>
        </p:nvSpPr>
        <p:spPr>
          <a:xfrm>
            <a:off x="812800" y="2184400"/>
            <a:ext cx="355600" cy="355600"/>
          </a:xfrm>
          <a:prstGeom prst="rect">
            <a:avLst/>
          </a:prstGeom>
          <a:noFill/>
        </p:spPr>
        <p:txBody>
          <a:bodyPr wrap="square" lIns="0" tIns="0" rIns="0" bIns="0" anchor="ctr">
            <a:noAutofit/>
          </a:bodyPr>
          <a:lstStyle/>
          <a:p>
            <a:pPr algn="ctr">
              <a:lnSpc>
                <a:spcPct val="100000"/>
              </a:lnSpc>
            </a:pPr>
            <a:r>
              <a:rPr lang="ko-KR" sz="1800" b="0">
                <a:solidFill>
                  <a:srgbClr val="FFFFFF"/>
                </a:solidFill>
                <a:latin typeface="Hanken Grotesk SemiBold"/>
                <a:ea typeface="SUIT SemiBold"/>
                <a:cs typeface="SUIT SemiBold"/>
              </a:rPr>
              <a:t>1</a:t>
            </a:r>
          </a:p>
        </p:txBody>
      </p:sp>
      <p:sp>
        <p:nvSpPr>
          <p:cNvPr id="10" name="Conclusion 1"/>
          <p:cNvSpPr txBox="1"/>
          <p:nvPr/>
        </p:nvSpPr>
        <p:spPr>
          <a:xfrm>
            <a:off x="1371600" y="2032000"/>
            <a:ext cx="9906000" cy="660400"/>
          </a:xfrm>
          <a:prstGeom prst="rect">
            <a:avLst/>
          </a:prstGeom>
          <a:noFill/>
        </p:spPr>
        <p:txBody>
          <a:bodyPr wrap="square" lIns="0" tIns="0" rIns="0" bIns="0" anchor="ctr">
            <a:noAutofit/>
          </a:bodyPr>
          <a:lstStyle/>
          <a:p>
            <a:pPr algn="l">
              <a:lnSpc>
                <a:spcPct val="130000"/>
              </a:lnSpc>
            </a:pPr>
            <a:r>
              <a:rPr lang="ko-KR" sz="1800" b="0">
                <a:solidFill>
                  <a:srgbClr val="141414"/>
                </a:solidFill>
                <a:latin typeface="Hanken Grotesk SemiBold"/>
                <a:ea typeface="SUIT SemiBold"/>
                <a:cs typeface="SUIT SemiBold"/>
              </a:rPr>
              <a:t>흰 배경을 빼면 기기·조명 차이가 1차로 줄어든다 (기종 비중 18% → 9%)</a:t>
            </a:r>
          </a:p>
        </p:txBody>
      </p:sp>
      <p:sp>
        <p:nvSpPr>
          <p:cNvPr id="11" name="Conclusion row 2"/>
          <p:cNvSpPr/>
          <p:nvPr/>
        </p:nvSpPr>
        <p:spPr>
          <a:xfrm>
            <a:off x="609600" y="2794000"/>
            <a:ext cx="10972800" cy="660400"/>
          </a:xfrm>
          <a:prstGeom prst="roundRect">
            <a:avLst>
              <a:gd name="adj" fmla="val 23076"/>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Number disc 2"/>
          <p:cNvSpPr/>
          <p:nvPr/>
        </p:nvSpPr>
        <p:spPr>
          <a:xfrm>
            <a:off x="812800" y="2946400"/>
            <a:ext cx="355600" cy="3556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Number 2"/>
          <p:cNvSpPr txBox="1"/>
          <p:nvPr/>
        </p:nvSpPr>
        <p:spPr>
          <a:xfrm>
            <a:off x="812800" y="2946400"/>
            <a:ext cx="355600" cy="355600"/>
          </a:xfrm>
          <a:prstGeom prst="rect">
            <a:avLst/>
          </a:prstGeom>
          <a:noFill/>
        </p:spPr>
        <p:txBody>
          <a:bodyPr wrap="square" lIns="0" tIns="0" rIns="0" bIns="0" anchor="ctr">
            <a:noAutofit/>
          </a:bodyPr>
          <a:lstStyle/>
          <a:p>
            <a:pPr algn="ctr">
              <a:lnSpc>
                <a:spcPct val="100000"/>
              </a:lnSpc>
            </a:pPr>
            <a:r>
              <a:rPr lang="ko-KR" sz="1800" b="0">
                <a:solidFill>
                  <a:srgbClr val="FFFFFF"/>
                </a:solidFill>
                <a:latin typeface="Hanken Grotesk SemiBold"/>
                <a:ea typeface="SUIT SemiBold"/>
                <a:cs typeface="SUIT SemiBold"/>
              </a:rPr>
              <a:t>2</a:t>
            </a:r>
          </a:p>
        </p:txBody>
      </p:sp>
      <p:sp>
        <p:nvSpPr>
          <p:cNvPr id="14" name="Conclusion 2"/>
          <p:cNvSpPr txBox="1"/>
          <p:nvPr/>
        </p:nvSpPr>
        <p:spPr>
          <a:xfrm>
            <a:off x="1371600" y="2794000"/>
            <a:ext cx="9906000" cy="660400"/>
          </a:xfrm>
          <a:prstGeom prst="rect">
            <a:avLst/>
          </a:prstGeom>
          <a:noFill/>
        </p:spPr>
        <p:txBody>
          <a:bodyPr wrap="square" lIns="0" tIns="0" rIns="0" bIns="0" anchor="ctr">
            <a:noAutofit/>
          </a:bodyPr>
          <a:lstStyle/>
          <a:p>
            <a:pPr algn="l">
              <a:lnSpc>
                <a:spcPct val="130000"/>
              </a:lnSpc>
            </a:pPr>
            <a:r>
              <a:rPr lang="ko-KR" sz="1800" b="0">
                <a:solidFill>
                  <a:srgbClr val="141414"/>
                </a:solidFill>
                <a:latin typeface="Hanken Grotesk SemiBold"/>
                <a:ea typeface="SUIT SemiBold"/>
                <a:cs typeface="SUIT SemiBold"/>
              </a:rPr>
              <a:t>판독 오차의 주원인은 기종별 상수 차이이며 크기와 pH 방향과의 각도로 설명된다</a:t>
            </a:r>
          </a:p>
        </p:txBody>
      </p:sp>
      <p:sp>
        <p:nvSpPr>
          <p:cNvPr id="15" name="Conclusion row 3"/>
          <p:cNvSpPr/>
          <p:nvPr/>
        </p:nvSpPr>
        <p:spPr>
          <a:xfrm>
            <a:off x="609600" y="3556000"/>
            <a:ext cx="10972800" cy="660400"/>
          </a:xfrm>
          <a:prstGeom prst="roundRect">
            <a:avLst>
              <a:gd name="adj" fmla="val 23076"/>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Number disc 3"/>
          <p:cNvSpPr/>
          <p:nvPr/>
        </p:nvSpPr>
        <p:spPr>
          <a:xfrm>
            <a:off x="812800" y="3708400"/>
            <a:ext cx="355600" cy="355600"/>
          </a:xfrm>
          <a:prstGeom prst="ellipse">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umber 3"/>
          <p:cNvSpPr txBox="1"/>
          <p:nvPr/>
        </p:nvSpPr>
        <p:spPr>
          <a:xfrm>
            <a:off x="812800" y="3708400"/>
            <a:ext cx="355600" cy="355600"/>
          </a:xfrm>
          <a:prstGeom prst="rect">
            <a:avLst/>
          </a:prstGeom>
          <a:noFill/>
        </p:spPr>
        <p:txBody>
          <a:bodyPr wrap="square" lIns="0" tIns="0" rIns="0" bIns="0" anchor="ctr">
            <a:noAutofit/>
          </a:bodyPr>
          <a:lstStyle/>
          <a:p>
            <a:pPr algn="ctr">
              <a:lnSpc>
                <a:spcPct val="100000"/>
              </a:lnSpc>
            </a:pPr>
            <a:r>
              <a:rPr lang="ko-KR" sz="1800" b="0">
                <a:solidFill>
                  <a:srgbClr val="FFFFFF"/>
                </a:solidFill>
                <a:latin typeface="Hanken Grotesk SemiBold"/>
                <a:ea typeface="SUIT SemiBold"/>
                <a:cs typeface="SUIT SemiBold"/>
              </a:rPr>
              <a:t>3</a:t>
            </a:r>
          </a:p>
        </p:txBody>
      </p:sp>
      <p:sp>
        <p:nvSpPr>
          <p:cNvPr id="18" name="Conclusion 3"/>
          <p:cNvSpPr txBox="1"/>
          <p:nvPr/>
        </p:nvSpPr>
        <p:spPr>
          <a:xfrm>
            <a:off x="1371600" y="3556000"/>
            <a:ext cx="9906000" cy="660400"/>
          </a:xfrm>
          <a:prstGeom prst="rect">
            <a:avLst/>
          </a:prstGeom>
          <a:noFill/>
        </p:spPr>
        <p:txBody>
          <a:bodyPr wrap="square" lIns="0" tIns="0" rIns="0" bIns="0" anchor="ctr">
            <a:noAutofit/>
          </a:bodyPr>
          <a:lstStyle/>
          <a:p>
            <a:pPr algn="l">
              <a:lnSpc>
                <a:spcPct val="130000"/>
              </a:lnSpc>
            </a:pPr>
            <a:r>
              <a:rPr lang="ko-KR" sz="1800" b="0">
                <a:solidFill>
                  <a:srgbClr val="141414"/>
                </a:solidFill>
                <a:latin typeface="Hanken Grotesk SemiBold"/>
                <a:ea typeface="SUIT SemiBold"/>
                <a:cs typeface="SUIT SemiBold"/>
              </a:rPr>
              <a:t>참조 시험지 2–3장으로 상수 차이를 보정하면 개선의 77–86%를 얻는다</a:t>
            </a:r>
          </a:p>
        </p:txBody>
      </p:sp>
      <p:sp>
        <p:nvSpPr>
          <p:cNvPr id="19" name="Limit tag"/>
          <p:cNvSpPr/>
          <p:nvPr/>
        </p:nvSpPr>
        <p:spPr>
          <a:xfrm>
            <a:off x="609600" y="4572000"/>
            <a:ext cx="533400" cy="254000"/>
          </a:xfrm>
          <a:prstGeom prst="roundRect">
            <a:avLst>
              <a:gd name="adj" fmla="val 5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Limit tag text"/>
          <p:cNvSpPr txBox="1"/>
          <p:nvPr/>
        </p:nvSpPr>
        <p:spPr>
          <a:xfrm>
            <a:off x="609600" y="4572000"/>
            <a:ext cx="533400" cy="254000"/>
          </a:xfrm>
          <a:prstGeom prst="rect">
            <a:avLst/>
          </a:prstGeom>
          <a:noFill/>
        </p:spPr>
        <p:txBody>
          <a:bodyPr wrap="square" lIns="0" tIns="0" rIns="0" bIns="0" anchor="ctr">
            <a:noAutofit/>
          </a:bodyPr>
          <a:lstStyle/>
          <a:p>
            <a:pPr algn="ctr">
              <a:lnSpc>
                <a:spcPct val="100000"/>
              </a:lnSpc>
            </a:pPr>
            <a:r>
              <a:rPr lang="ko-KR" sz="1100" b="0">
                <a:solidFill>
                  <a:srgbClr val="141414"/>
                </a:solidFill>
                <a:latin typeface="Hanken Grotesk SemiBold"/>
                <a:ea typeface="SUIT SemiBold"/>
                <a:cs typeface="SUIT SemiBold"/>
              </a:rPr>
              <a:t>한계</a:t>
            </a:r>
          </a:p>
        </p:txBody>
      </p:sp>
      <p:sp>
        <p:nvSpPr>
          <p:cNvPr id="21" name="Limitations"/>
          <p:cNvSpPr txBox="1"/>
          <p:nvPr/>
        </p:nvSpPr>
        <p:spPr>
          <a:xfrm>
            <a:off x="609600" y="4927600"/>
            <a:ext cx="10160000" cy="508000"/>
          </a:xfrm>
          <a:prstGeom prst="rect">
            <a:avLst/>
          </a:prstGeom>
          <a:noFill/>
        </p:spPr>
        <p:txBody>
          <a:bodyPr wrap="square" lIns="0" tIns="0" rIns="0" bIns="0" anchor="t">
            <a:noAutofit/>
          </a:bodyPr>
          <a:lstStyle/>
          <a:p>
            <a:pPr algn="l">
              <a:lnSpc>
                <a:spcPct val="143000"/>
              </a:lnSpc>
            </a:pPr>
            <a:r>
              <a:rPr lang="ko-KR" sz="1400" b="0">
                <a:solidFill>
                  <a:srgbClr val="707070"/>
                </a:solidFill>
                <a:latin typeface="Hanken Grotesk"/>
                <a:ea typeface="SUIT"/>
                <a:cs typeface="SUIT"/>
              </a:rPr>
              <a:t>조건당 시험지 1장, 기종 3종·시험지 1종·좁은 조명 범위. 반복 시험지와 더 많은 기종으로 확인할 계획이다.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Ink band"/>
          <p:cNvSpPr/>
          <p:nvPr/>
        </p:nvSpPr>
        <p:spPr>
          <a:xfrm>
            <a:off x="0" y="2286000"/>
            <a:ext cx="12192000" cy="5080000"/>
          </a:xfrm>
          <a:prstGeom prst="roundRect">
            <a:avLst>
              <a:gd name="adj" fmla="val 45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itle"/>
          <p:cNvSpPr txBox="1"/>
          <p:nvPr/>
        </p:nvSpPr>
        <p:spPr>
          <a:xfrm>
            <a:off x="609600" y="762000"/>
            <a:ext cx="10972800" cy="889000"/>
          </a:xfrm>
          <a:prstGeom prst="rect">
            <a:avLst/>
          </a:prstGeom>
          <a:noFill/>
        </p:spPr>
        <p:txBody>
          <a:bodyPr wrap="square" lIns="0" tIns="0" rIns="0" bIns="0" anchor="b">
            <a:noAutofit/>
          </a:bodyPr>
          <a:lstStyle/>
          <a:p>
            <a:pPr algn="l">
              <a:lnSpc>
                <a:spcPct val="100000"/>
              </a:lnSpc>
            </a:pPr>
            <a:r>
              <a:rPr lang="en-US" altLang="ko-KR" sz="5600" b="0" dirty="0">
                <a:solidFill>
                  <a:srgbClr val="141414"/>
                </a:solidFill>
                <a:latin typeface="Hanken Grotesk SemiBold"/>
                <a:ea typeface="SUIT SemiBold"/>
                <a:cs typeface="SUIT SemiBold"/>
              </a:rPr>
              <a:t>Thank you</a:t>
            </a:r>
            <a:endParaRPr lang="ko-KR" sz="5600" b="0" dirty="0">
              <a:solidFill>
                <a:srgbClr val="141414"/>
              </a:solidFill>
              <a:latin typeface="Hanken Grotesk SemiBold"/>
              <a:ea typeface="SUIT SemiBold"/>
              <a:cs typeface="SUIT SemiBold"/>
            </a:endParaRPr>
          </a:p>
        </p:txBody>
      </p:sp>
      <p:sp>
        <p:nvSpPr>
          <p:cNvPr id="4" name="Band headline"/>
          <p:cNvSpPr txBox="1"/>
          <p:nvPr/>
        </p:nvSpPr>
        <p:spPr>
          <a:xfrm>
            <a:off x="609600" y="3048000"/>
            <a:ext cx="10972800" cy="889000"/>
          </a:xfrm>
          <a:prstGeom prst="rect">
            <a:avLst/>
          </a:prstGeom>
          <a:noFill/>
        </p:spPr>
        <p:txBody>
          <a:bodyPr wrap="square" lIns="0" tIns="0" rIns="0" bIns="0" anchor="t">
            <a:noAutofit/>
          </a:bodyPr>
          <a:lstStyle/>
          <a:p>
            <a:pPr algn="l">
              <a:lnSpc>
                <a:spcPct val="100000"/>
              </a:lnSpc>
            </a:pPr>
            <a:r>
              <a:rPr lang="en-US" altLang="ko-KR" sz="5600" b="0" dirty="0">
                <a:solidFill>
                  <a:srgbClr val="FFFFFF"/>
                </a:solidFill>
                <a:latin typeface="Hanken Grotesk SemiBold"/>
                <a:ea typeface="SUIT SemiBold"/>
                <a:cs typeface="SUIT SemiBold"/>
              </a:rPr>
              <a:t>Q&amp;A</a:t>
            </a:r>
            <a:endParaRPr lang="ko-KR" sz="5600" b="0" dirty="0">
              <a:solidFill>
                <a:srgbClr val="FFFFFF"/>
              </a:solidFill>
              <a:latin typeface="Hanken Grotesk SemiBold"/>
              <a:ea typeface="SUIT SemiBold"/>
              <a:cs typeface="SUIT SemiBold"/>
            </a:endParaRPr>
          </a:p>
        </p:txBody>
      </p:sp>
      <p:sp>
        <p:nvSpPr>
          <p:cNvPr id="5" name="Team name"/>
          <p:cNvSpPr txBox="1"/>
          <p:nvPr/>
        </p:nvSpPr>
        <p:spPr>
          <a:xfrm>
            <a:off x="609600" y="5461000"/>
            <a:ext cx="3810000" cy="254000"/>
          </a:xfrm>
          <a:prstGeom prst="rect">
            <a:avLst/>
          </a:prstGeom>
          <a:noFill/>
        </p:spPr>
        <p:txBody>
          <a:bodyPr wrap="square" lIns="0" tIns="0" rIns="0" bIns="0" anchor="t">
            <a:noAutofit/>
          </a:bodyPr>
          <a:lstStyle/>
          <a:p>
            <a:pPr algn="l">
              <a:lnSpc>
                <a:spcPct val="100000"/>
              </a:lnSpc>
            </a:pPr>
            <a:r>
              <a:rPr lang="ko-KR" sz="1400" b="0">
                <a:solidFill>
                  <a:srgbClr val="FFFFFF"/>
                </a:solidFill>
                <a:latin typeface="Hanken Grotesk SemiBold"/>
                <a:ea typeface="SUIT SemiBold"/>
                <a:cs typeface="SUIT SemiBold"/>
              </a:rPr>
              <a:t>팀 pHixel</a:t>
            </a:r>
          </a:p>
        </p:txBody>
      </p:sp>
      <p:sp>
        <p:nvSpPr>
          <p:cNvPr id="6" name="Event"/>
          <p:cNvSpPr txBox="1"/>
          <p:nvPr/>
        </p:nvSpPr>
        <p:spPr>
          <a:xfrm>
            <a:off x="609600" y="5715000"/>
            <a:ext cx="3810000" cy="254000"/>
          </a:xfrm>
          <a:prstGeom prst="rect">
            <a:avLst/>
          </a:prstGeom>
          <a:noFill/>
        </p:spPr>
        <p:txBody>
          <a:bodyPr wrap="square" lIns="0" tIns="0" rIns="0" bIns="0" anchor="t">
            <a:noAutofit/>
          </a:bodyPr>
          <a:lstStyle/>
          <a:p>
            <a:pPr algn="l">
              <a:lnSpc>
                <a:spcPct val="100000"/>
              </a:lnSpc>
            </a:pPr>
            <a:r>
              <a:rPr lang="ko-KR" sz="1400" b="0">
                <a:solidFill>
                  <a:srgbClr val="ADADAD"/>
                </a:solidFill>
                <a:latin typeface="Hanken Grotesk"/>
                <a:ea typeface="SUIT"/>
                <a:cs typeface="SUIT"/>
              </a:rPr>
              <a:t>2026 과학기술대학 학술제</a:t>
            </a:r>
          </a:p>
        </p:txBody>
      </p:sp>
      <p:sp>
        <p:nvSpPr>
          <p:cNvPr id="7" name="Members"/>
          <p:cNvSpPr txBox="1"/>
          <p:nvPr/>
        </p:nvSpPr>
        <p:spPr>
          <a:xfrm>
            <a:off x="4826000" y="5461000"/>
            <a:ext cx="5715000" cy="254000"/>
          </a:xfrm>
          <a:prstGeom prst="rect">
            <a:avLst/>
          </a:prstGeom>
          <a:noFill/>
        </p:spPr>
        <p:txBody>
          <a:bodyPr wrap="square" lIns="0" tIns="0" rIns="0" bIns="0" anchor="t">
            <a:noAutofit/>
          </a:bodyPr>
          <a:lstStyle/>
          <a:p>
            <a:pPr algn="l">
              <a:lnSpc>
                <a:spcPct val="100000"/>
              </a:lnSpc>
            </a:pPr>
            <a:r>
              <a:rPr lang="ko-KR" sz="1400" b="0">
                <a:solidFill>
                  <a:srgbClr val="FFFFFF"/>
                </a:solidFill>
                <a:latin typeface="Hanken Grotesk SemiBold"/>
                <a:ea typeface="SUIT SemiBold"/>
                <a:cs typeface="SUIT SemiBold"/>
              </a:rPr>
              <a:t>홍연정 · 김소연</a:t>
            </a:r>
          </a:p>
        </p:txBody>
      </p:sp>
      <p:sp>
        <p:nvSpPr>
          <p:cNvPr id="8" name="Department"/>
          <p:cNvSpPr txBox="1"/>
          <p:nvPr/>
        </p:nvSpPr>
        <p:spPr>
          <a:xfrm>
            <a:off x="4826000" y="5715000"/>
            <a:ext cx="5715000" cy="254000"/>
          </a:xfrm>
          <a:prstGeom prst="rect">
            <a:avLst/>
          </a:prstGeom>
          <a:noFill/>
        </p:spPr>
        <p:txBody>
          <a:bodyPr wrap="square" lIns="0" tIns="0" rIns="0" bIns="0" anchor="t">
            <a:noAutofit/>
          </a:bodyPr>
          <a:lstStyle/>
          <a:p>
            <a:pPr algn="l">
              <a:lnSpc>
                <a:spcPct val="100000"/>
              </a:lnSpc>
            </a:pPr>
            <a:r>
              <a:rPr lang="ko-KR" sz="1400" b="0">
                <a:solidFill>
                  <a:srgbClr val="ADADAD"/>
                </a:solidFill>
                <a:latin typeface="Hanken Grotesk"/>
                <a:ea typeface="SUIT"/>
                <a:cs typeface="SUIT"/>
              </a:rPr>
              <a:t>정보통계학전공</a:t>
            </a:r>
          </a:p>
        </p:txBody>
      </p:sp>
    </p:spTree>
  </p:cSld>
  <p:clrMapOvr>
    <a:masterClrMapping/>
  </p:clrMapOvr>
</p:sld>
</file>

<file path=ppt/theme/theme1.xml><?xml version="1.0" encoding="utf-8"?>
<a:theme xmlns:a="http://schemas.openxmlformats.org/drawingml/2006/main" name="Office Theme">
  <a:themeElements>
    <a:clrScheme name="Mobbin mono">
      <a:dk1>
        <a:srgbClr val="141414"/>
      </a:dk1>
      <a:lt1>
        <a:srgbClr val="FFFFFF"/>
      </a:lt1>
      <a:dk2>
        <a:srgbClr val="707070"/>
      </a:dk2>
      <a:lt2>
        <a:srgbClr val="F3F3F3"/>
      </a:lt2>
      <a:accent1>
        <a:srgbClr val="141414"/>
      </a:accent1>
      <a:accent2>
        <a:srgbClr val="0066FF"/>
      </a:accent2>
      <a:accent3>
        <a:srgbClr val="707070"/>
      </a:accent3>
      <a:accent4>
        <a:srgbClr val="ADADAD"/>
      </a:accent4>
      <a:accent5>
        <a:srgbClr val="E0E0E0"/>
      </a:accent5>
      <a:accent6>
        <a:srgbClr val="262626"/>
      </a:accent6>
      <a:hlink>
        <a:srgbClr val="141414"/>
      </a:hlink>
      <a:folHlink>
        <a:srgbClr val="141414"/>
      </a:folHlink>
    </a:clrScheme>
    <a:fontScheme name="Office">
      <a:majorFont>
        <a:latin typeface="Hanken Grotesk SemiBold"/>
        <a:ea typeface="SUIT SemiBold"/>
        <a:cs typeface=""/>
        <a:font script="Jpan" typeface="ＭＳ Ｐゴシック"/>
        <a:font script="Hang" typeface="SUIT SemiBold"/>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anken Grotesk"/>
        <a:ea typeface="SUIT"/>
        <a:cs typeface=""/>
        <a:font script="Jpan" typeface="ＭＳ Ｐゴシック"/>
        <a:font script="Hang" typeface="SUIT"/>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TotalTime>
  <Words>1647</Words>
  <Application>Microsoft Office PowerPoint</Application>
  <PresentationFormat>와이드스크린</PresentationFormat>
  <Paragraphs>138</Paragraphs>
  <Slides>12</Slides>
  <Notes>12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12</vt:i4>
      </vt:variant>
    </vt:vector>
  </HeadingPairs>
  <TitlesOfParts>
    <vt:vector size="17" baseType="lpstr">
      <vt:lpstr>Arial</vt:lpstr>
      <vt:lpstr>Hanken Grotesk</vt:lpstr>
      <vt:lpstr>Hanken Grotesk Light</vt:lpstr>
      <vt:lpstr>Hanken Grotesk SemiBold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같은 시험지, 다른 pH — 팀 pHixel (Mobbin 스타일)</dc:title>
  <dc:subject/>
  <dc:creator>팀 pHixel</dc:creator>
  <cp:keywords/>
  <dc:description>generated using python-pptx</dc:description>
  <cp:lastModifiedBy>소연 김</cp:lastModifiedBy>
  <cp:revision>4</cp:revision>
  <dcterms:created xsi:type="dcterms:W3CDTF">2013-01-27T09:14:16Z</dcterms:created>
  <dcterms:modified xsi:type="dcterms:W3CDTF">2026-10-28T14:02:19Z</dcterms:modified>
  <cp:category/>
</cp:coreProperties>
</file>